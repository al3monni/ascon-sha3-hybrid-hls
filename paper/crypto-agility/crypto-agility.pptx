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7867" autoAdjust="0"/>
  </p:normalViewPr>
  <p:slideViewPr>
    <p:cSldViewPr snapToGrid="0" snapToObjects="1">
      <p:cViewPr varScale="1">
        <p:scale>
          <a:sx n="63" d="100"/>
          <a:sy n="63" d="100"/>
        </p:scale>
        <p:origin x="77" y="163"/>
      </p:cViewPr>
      <p:guideLst/>
    </p:cSldViewPr>
  </p:slideViewPr>
  <p:notesTextViewPr>
    <p:cViewPr>
      <p:scale>
        <a:sx n="1" d="1"/>
        <a:sy n="1" d="1"/>
      </p:scale>
      <p:origin x="0" y="-29"/>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1135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Crypto-Agility è la capacità di sostituire e adattare gli algoritmi crittografici in protocolli, applicazioni, software, hardware, firmware, infrastrutture e organizzazioni, preservando sicurezza e continuità operativa.
Nel 2016 il NIST la definisce anche come la capacità di selezionare a run-time tra gli algoritmi disponibili in base alle loro funzioni di sicurezza combinate.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proprietà origina dal fatto che gli algoritmi attuali possono diventare obsoleti in futuro, come nel caso della Post-Quantum Cryptography (PQC), per cui tutti gli algoritmi a chiave pubblica dovranno essere sostituiti.
Le transizioni richiedono decenni per poter essere portate a termine, poiché cambiare un algoritmo implica aggiornare protocolli, librerie, hardware e adattare tutta l'infrastruttura. Per questo, si vuole garantire la capacità di sostituire gli algoritmi in modo rapido.
Supportare la Crypto-Agility significa quindi progettare in anticipo la capacità di cambiamento (assumendo che gli algoritmi cambieranno) prima che ci sia la necessità che questo avvenga, ovvero nel caso in cui un algoritmo viene compromesso.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Cambiamento non significa esclusivamente scegliere un altro algoritmo, ma anche avere la possibilità di configurare i parametri di uno stesso algoritmo, come ad esempio la lunghezza delle chiavi.
I sistemi devono inoltre supportare la coesistenza di protocolli diversi per mantenere la compatibilità con i sistemi esistenti.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strumento principale per raggiungere l'obiettivo della crypto-agility è aggiungere un livello di astrazione, rappresentato da Crypto-API, per separare le applicazioni dai protocolli crittografici sottostanti.
In questo modo è possibile cambiare l'algoritmo solo a livello di libreria senza dover riscrivere la logica applicativa — qualcosa che già accade nella pratica. Lo stesso discorso vale per i sistemi operativi.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ambienti cloud, distribuiti, e composti da numerosi microservizi, la negoziazione può essere centralizzata ed eseguita a livello di infrastruttura, disaccoppiando ulteriormente le applicazioni dalla crittografia.
(Sezione 4, pag. 23-24 — con aggancio al progetto MYRTUS)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Lato hardware è possibile avere diversi livelli di crypto-agility. Chip e moduli dedicati (es. TPM) non permettono solitamente nessun grado di agilità e richiedono di essere sostituiti in caso di sostituzione degli algoritmi.
Eccezione fatta per le FPGA, data la loro natura riconfigurabile.
L'immutabilità dell'hardware garantisce resistenza agli attacchi ma complica le transizioni tra algoritmi.
(Sezione 6, pag. 32)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più grande sfida alla crypto-agility sono i constraint hardware. Potrebbe non essere possibile implementare molti algoritmi in un'unica piattaforma hardware.
Ottimizzazioni come il riuso di acceleratori costituiscono un'importante area di ricerca in questo campo, soprattutto per completare la transizione PQC.
Gli algoritmi crittografici devono considerare la limitazione delle risorse, ad esempio condividendo primitive comuni per ottimizzare le risorse hardware.
Questa proprietà si applica maggiormente agli algoritmi PQC, che prevedono chiavi e firme più grandi, e ai sistemi embedded, a causa delle risorse limitate.
(Sezione 6, pag. 32)</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di conclusione.
Riepilogo dei punti chiave:
- La crypto-agility è una proprietà progettuale da pianificare prima che un algoritmo venga compromesso.
- Il livello di astrazione (Crypto-API) è il meccanismo chiave per il disaccoppiamento tra applicazione e crittografia.
- La transizione PQC è il principale driver attuale e richiede agilità a tutti i livelli del sistema.
- I vincoli hardware rappresentano la sfida più critica, in particolare per sistemi embedded e IoT.
- La ricerca su riuso degli acceleratori e primitive condivise è essenziale per l'abilitazione hardware.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1645920"/>
            <a:ext cx="8229600" cy="27432"/>
          </a:xfrm>
          <a:prstGeom prst="rect">
            <a:avLst/>
          </a:prstGeom>
          <a:solidFill>
            <a:srgbClr val="FFFFFF"/>
          </a:solidFill>
          <a:ln w="12700">
            <a:solidFill>
              <a:srgbClr val="FFFFFF"/>
            </a:solidFill>
            <a:prstDash val="solid"/>
          </a:ln>
        </p:spPr>
        <p:txBody>
          <a:bodyPr/>
          <a:lstStyle/>
          <a:p>
            <a:endParaRPr lang="it-IT"/>
          </a:p>
        </p:txBody>
      </p:sp>
      <p:sp>
        <p:nvSpPr>
          <p:cNvPr id="3" name="Shape 1"/>
          <p:cNvSpPr/>
          <p:nvPr/>
        </p:nvSpPr>
        <p:spPr>
          <a:xfrm>
            <a:off x="457200" y="3840480"/>
            <a:ext cx="8229600" cy="27432"/>
          </a:xfrm>
          <a:prstGeom prst="rect">
            <a:avLst/>
          </a:prstGeom>
          <a:solidFill>
            <a:srgbClr val="FFFFFF"/>
          </a:solidFill>
          <a:ln w="12700">
            <a:solidFill>
              <a:srgbClr val="FFFFFF"/>
            </a:solidFill>
            <a:prstDash val="solid"/>
          </a:ln>
        </p:spPr>
        <p:txBody>
          <a:bodyPr/>
          <a:lstStyle/>
          <a:p>
            <a:endParaRPr lang="it-IT"/>
          </a:p>
        </p:txBody>
      </p:sp>
      <p:sp>
        <p:nvSpPr>
          <p:cNvPr id="4" name="Text 2"/>
          <p:cNvSpPr/>
          <p:nvPr/>
        </p:nvSpPr>
        <p:spPr>
          <a:xfrm>
            <a:off x="457200" y="1783080"/>
            <a:ext cx="8229600" cy="1188720"/>
          </a:xfrm>
          <a:prstGeom prst="rect">
            <a:avLst/>
          </a:prstGeom>
          <a:noFill/>
          <a:ln/>
        </p:spPr>
        <p:txBody>
          <a:bodyPr wrap="square" lIns="0" tIns="0" rIns="0" bIns="0" rtlCol="0" anchor="ctr"/>
          <a:lstStyle/>
          <a:p>
            <a:pPr marL="0" indent="0" algn="ctr">
              <a:buNone/>
            </a:pPr>
            <a:r>
              <a:rPr lang="en-US" sz="5200" b="1" kern="0" spc="800" dirty="0">
                <a:solidFill>
                  <a:srgbClr val="FFFFFF"/>
                </a:solidFill>
                <a:latin typeface="Courier New" pitchFamily="34" charset="0"/>
                <a:ea typeface="Courier New" pitchFamily="34" charset="-122"/>
                <a:cs typeface="Courier New" pitchFamily="34" charset="-120"/>
              </a:rPr>
              <a:t>CRYPTOAGILITY</a:t>
            </a:r>
            <a:endParaRPr lang="en-US" sz="5200" dirty="0"/>
          </a:p>
        </p:txBody>
      </p:sp>
      <p:sp>
        <p:nvSpPr>
          <p:cNvPr id="5" name="Text 3"/>
          <p:cNvSpPr/>
          <p:nvPr/>
        </p:nvSpPr>
        <p:spPr>
          <a:xfrm>
            <a:off x="457200" y="2926080"/>
            <a:ext cx="8229600" cy="502920"/>
          </a:xfrm>
          <a:prstGeom prst="rect">
            <a:avLst/>
          </a:prstGeom>
          <a:noFill/>
          <a:ln/>
        </p:spPr>
        <p:txBody>
          <a:bodyPr wrap="square" lIns="0" tIns="0" rIns="0" bIns="0" rtlCol="0" anchor="ctr"/>
          <a:lstStyle/>
          <a:p>
            <a:pPr marL="0" indent="0" algn="ctr">
              <a:buNone/>
            </a:pPr>
            <a:r>
              <a:rPr lang="en-US" sz="1300" i="1" dirty="0">
                <a:solidFill>
                  <a:srgbClr val="AAAAAA"/>
                </a:solidFill>
                <a:latin typeface="Courier New" pitchFamily="34" charset="0"/>
                <a:ea typeface="Courier New" pitchFamily="34" charset="-122"/>
                <a:cs typeface="Courier New" pitchFamily="34" charset="-120"/>
              </a:rPr>
              <a:t>NIST CSWP 39 — Considerations for Achieving Crypto Agility</a:t>
            </a:r>
            <a:endParaRPr lang="en-US" sz="1300" dirty="0"/>
          </a:p>
        </p:txBody>
      </p:sp>
      <p:sp>
        <p:nvSpPr>
          <p:cNvPr id="6" name="Text 4"/>
          <p:cNvSpPr/>
          <p:nvPr/>
        </p:nvSpPr>
        <p:spPr>
          <a:xfrm>
            <a:off x="457200" y="3931920"/>
            <a:ext cx="8229600" cy="822960"/>
          </a:xfrm>
          <a:prstGeom prst="rect">
            <a:avLst/>
          </a:prstGeom>
          <a:noFill/>
          <a:ln/>
        </p:spPr>
        <p:txBody>
          <a:bodyPr wrap="square" lIns="0" tIns="0" rIns="0" bIns="0" rtlCol="0" anchor="b"/>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Alessandro Monni</a:t>
            </a:r>
            <a:endParaRPr lang="en-US" sz="1500" dirty="0"/>
          </a:p>
        </p:txBody>
      </p:sp>
      <p:pic>
        <p:nvPicPr>
          <p:cNvPr id="9" name="Immagine 8">
            <a:extLst>
              <a:ext uri="{FF2B5EF4-FFF2-40B4-BE49-F238E27FC236}">
                <a16:creationId xmlns:a16="http://schemas.microsoft.com/office/drawing/2014/main" id="{B70094BE-93F4-427E-58C5-DB08D0B749B6}"/>
              </a:ext>
            </a:extLst>
          </p:cNvPr>
          <p:cNvPicPr>
            <a:picLocks noChangeAspect="1"/>
          </p:cNvPicPr>
          <p:nvPr/>
        </p:nvPicPr>
        <p:blipFill>
          <a:blip r:embed="rId3"/>
          <a:stretch>
            <a:fillRect/>
          </a:stretch>
        </p:blipFill>
        <p:spPr>
          <a:xfrm>
            <a:off x="2886452" y="363175"/>
            <a:ext cx="3371095" cy="87477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64008" cy="822960"/>
          </a:xfrm>
          <a:prstGeom prst="rect">
            <a:avLst/>
          </a:prstGeom>
          <a:solidFill>
            <a:srgbClr val="000000"/>
          </a:solidFill>
          <a:ln w="12700">
            <a:solidFill>
              <a:srgbClr val="000000"/>
            </a:solidFill>
            <a:prstDash val="solid"/>
          </a:ln>
        </p:spPr>
        <p:txBody>
          <a:bodyPr/>
          <a:lstStyle/>
          <a:p>
            <a:endParaRPr lang="it-IT"/>
          </a:p>
        </p:txBody>
      </p:sp>
      <p:sp>
        <p:nvSpPr>
          <p:cNvPr id="3" name="Text 1"/>
          <p:cNvSpPr/>
          <p:nvPr/>
        </p:nvSpPr>
        <p:spPr>
          <a:xfrm>
            <a:off x="548640" y="457200"/>
            <a:ext cx="8229600" cy="822960"/>
          </a:xfrm>
          <a:prstGeom prst="rect">
            <a:avLst/>
          </a:prstGeom>
          <a:noFill/>
          <a:ln/>
        </p:spPr>
        <p:txBody>
          <a:bodyPr wrap="square" lIns="0" tIns="0" rIns="0" bIns="0" rtlCol="0" anchor="ctr"/>
          <a:lstStyle/>
          <a:p>
            <a:pPr marL="0" indent="0">
              <a:buNone/>
            </a:pPr>
            <a:r>
              <a:rPr lang="en-US" sz="3200" b="1" dirty="0">
                <a:solidFill>
                  <a:srgbClr val="000000"/>
                </a:solidFill>
                <a:latin typeface="Courier New" pitchFamily="34" charset="0"/>
                <a:ea typeface="Courier New" pitchFamily="34" charset="-122"/>
                <a:cs typeface="Courier New" pitchFamily="34" charset="-120"/>
              </a:rPr>
              <a:t>DEFINIZIONE</a:t>
            </a:r>
            <a:endParaRPr lang="en-US" sz="3200" dirty="0"/>
          </a:p>
        </p:txBody>
      </p:sp>
      <p:sp>
        <p:nvSpPr>
          <p:cNvPr id="4" name="Shape 2"/>
          <p:cNvSpPr/>
          <p:nvPr/>
        </p:nvSpPr>
        <p:spPr>
          <a:xfrm>
            <a:off x="365760" y="1417320"/>
            <a:ext cx="8412480" cy="22860"/>
          </a:xfrm>
          <a:prstGeom prst="rect">
            <a:avLst/>
          </a:prstGeom>
          <a:solidFill>
            <a:srgbClr val="000000"/>
          </a:solidFill>
          <a:ln w="12700">
            <a:solidFill>
              <a:srgbClr val="000000"/>
            </a:solidFill>
            <a:prstDash val="solid"/>
          </a:ln>
        </p:spPr>
        <p:txBody>
          <a:bodyPr/>
          <a:lstStyle/>
          <a:p>
            <a:endParaRPr lang="it-IT"/>
          </a:p>
        </p:txBody>
      </p:sp>
      <p:sp>
        <p:nvSpPr>
          <p:cNvPr id="5" name="Shape 3"/>
          <p:cNvSpPr/>
          <p:nvPr/>
        </p:nvSpPr>
        <p:spPr>
          <a:xfrm>
            <a:off x="365760" y="1600200"/>
            <a:ext cx="8412480" cy="1325880"/>
          </a:xfrm>
          <a:prstGeom prst="rect">
            <a:avLst/>
          </a:prstGeom>
          <a:solidFill>
            <a:srgbClr val="EEEEEE"/>
          </a:solidFill>
          <a:ln w="12700">
            <a:solidFill>
              <a:srgbClr val="AAAAAA"/>
            </a:solidFill>
            <a:prstDash val="solid"/>
          </a:ln>
        </p:spPr>
        <p:txBody>
          <a:bodyPr/>
          <a:lstStyle/>
          <a:p>
            <a:endParaRPr lang="it-IT"/>
          </a:p>
        </p:txBody>
      </p:sp>
      <p:sp>
        <p:nvSpPr>
          <p:cNvPr id="6" name="Text 4"/>
          <p:cNvSpPr/>
          <p:nvPr/>
        </p:nvSpPr>
        <p:spPr>
          <a:xfrm>
            <a:off x="502920" y="1664208"/>
            <a:ext cx="8138160" cy="1188720"/>
          </a:xfrm>
          <a:prstGeom prst="rect">
            <a:avLst/>
          </a:prstGeom>
          <a:noFill/>
          <a:ln/>
        </p:spPr>
        <p:txBody>
          <a:bodyPr wrap="square" rtlCol="0" anchor="ctr"/>
          <a:lstStyle/>
          <a:p>
            <a:pPr marL="0" indent="0" algn="l">
              <a:buNone/>
            </a:pPr>
            <a:r>
              <a:rPr lang="en-US" sz="1600" i="1" dirty="0">
                <a:solidFill>
                  <a:srgbClr val="000000"/>
                </a:solidFill>
                <a:latin typeface="Courier New" pitchFamily="34" charset="0"/>
                <a:ea typeface="Courier New" pitchFamily="34" charset="-122"/>
                <a:cs typeface="Courier New" pitchFamily="34" charset="-120"/>
              </a:rPr>
              <a:t>La capacità di sostituire e adattare gli algoritmi crittografici in protocolli, applicazioni, software, hardware, firmware e infrastrutture, preservando sicurezza e continuità operativa.</a:t>
            </a:r>
            <a:endParaRPr lang="en-US" sz="1600" dirty="0"/>
          </a:p>
        </p:txBody>
      </p:sp>
      <p:sp>
        <p:nvSpPr>
          <p:cNvPr id="7" name="Text 5"/>
          <p:cNvSpPr/>
          <p:nvPr/>
        </p:nvSpPr>
        <p:spPr>
          <a:xfrm>
            <a:off x="365760" y="3017520"/>
            <a:ext cx="8412480" cy="640080"/>
          </a:xfrm>
          <a:prstGeom prst="rect">
            <a:avLst/>
          </a:prstGeom>
          <a:noFill/>
          <a:ln/>
        </p:spPr>
        <p:txBody>
          <a:bodyPr wrap="square" rtlCol="0" anchor="ctr"/>
          <a:lstStyle/>
          <a:p>
            <a:pPr marL="0" indent="0">
              <a:buNone/>
            </a:pPr>
            <a:r>
              <a:rPr lang="en-US" sz="1400" b="1" dirty="0">
                <a:solidFill>
                  <a:srgbClr val="555555"/>
                </a:solidFill>
                <a:latin typeface="Courier New" pitchFamily="34" charset="0"/>
                <a:ea typeface="Courier New" pitchFamily="34" charset="-122"/>
                <a:cs typeface="Courier New" pitchFamily="34" charset="-120"/>
              </a:rPr>
              <a:t>NIST 2016: </a:t>
            </a:r>
            <a:r>
              <a:rPr lang="en-US" sz="1400" dirty="0">
                <a:solidFill>
                  <a:srgbClr val="555555"/>
                </a:solidFill>
                <a:latin typeface="Courier New" pitchFamily="34" charset="0"/>
                <a:ea typeface="Courier New" pitchFamily="34" charset="-122"/>
                <a:cs typeface="Courier New" pitchFamily="34" charset="-120"/>
              </a:rPr>
              <a:t>capacità di selezionare a run-time tra gli algoritmi disponibili in base alle loro funzioni di sicurezza combinate.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64008" cy="822960"/>
          </a:xfrm>
          <a:prstGeom prst="rect">
            <a:avLst/>
          </a:prstGeom>
          <a:solidFill>
            <a:srgbClr val="000000"/>
          </a:solidFill>
          <a:ln w="12700">
            <a:solidFill>
              <a:srgbClr val="000000"/>
            </a:solidFill>
            <a:prstDash val="solid"/>
          </a:ln>
        </p:spPr>
        <p:txBody>
          <a:bodyPr/>
          <a:lstStyle/>
          <a:p>
            <a:endParaRPr lang="it-IT"/>
          </a:p>
        </p:txBody>
      </p:sp>
      <p:sp>
        <p:nvSpPr>
          <p:cNvPr id="3" name="Text 1"/>
          <p:cNvSpPr/>
          <p:nvPr/>
        </p:nvSpPr>
        <p:spPr>
          <a:xfrm>
            <a:off x="548640" y="457200"/>
            <a:ext cx="8229600" cy="822960"/>
          </a:xfrm>
          <a:prstGeom prst="rect">
            <a:avLst/>
          </a:prstGeom>
          <a:noFill/>
          <a:ln/>
        </p:spPr>
        <p:txBody>
          <a:bodyPr wrap="square" lIns="0" tIns="0" rIns="0" bIns="0" rtlCol="0" anchor="ctr"/>
          <a:lstStyle/>
          <a:p>
            <a:pPr marL="0" indent="0">
              <a:buNone/>
            </a:pPr>
            <a:r>
              <a:rPr lang="en-US" sz="2800" b="1" dirty="0">
                <a:solidFill>
                  <a:srgbClr val="000000"/>
                </a:solidFill>
                <a:latin typeface="Courier New" pitchFamily="34" charset="0"/>
                <a:ea typeface="Courier New" pitchFamily="34" charset="-122"/>
                <a:cs typeface="Courier New" pitchFamily="34" charset="-120"/>
              </a:rPr>
              <a:t>PERCHÉ È NECESSARIA</a:t>
            </a:r>
            <a:endParaRPr lang="en-US" sz="2800" dirty="0"/>
          </a:p>
        </p:txBody>
      </p:sp>
      <p:sp>
        <p:nvSpPr>
          <p:cNvPr id="4" name="Shape 2"/>
          <p:cNvSpPr/>
          <p:nvPr/>
        </p:nvSpPr>
        <p:spPr>
          <a:xfrm>
            <a:off x="365760" y="1417320"/>
            <a:ext cx="8412480" cy="22860"/>
          </a:xfrm>
          <a:prstGeom prst="rect">
            <a:avLst/>
          </a:prstGeom>
          <a:solidFill>
            <a:srgbClr val="000000"/>
          </a:solidFill>
          <a:ln w="12700">
            <a:solidFill>
              <a:srgbClr val="000000"/>
            </a:solidFill>
            <a:prstDash val="solid"/>
          </a:ln>
        </p:spPr>
        <p:txBody>
          <a:bodyPr/>
          <a:lstStyle/>
          <a:p>
            <a:endParaRPr lang="it-IT"/>
          </a:p>
        </p:txBody>
      </p:sp>
      <p:sp>
        <p:nvSpPr>
          <p:cNvPr id="5" name="Shape 3"/>
          <p:cNvSpPr/>
          <p:nvPr/>
        </p:nvSpPr>
        <p:spPr>
          <a:xfrm>
            <a:off x="365760" y="1600200"/>
            <a:ext cx="548640" cy="548640"/>
          </a:xfrm>
          <a:prstGeom prst="rect">
            <a:avLst/>
          </a:prstGeom>
          <a:solidFill>
            <a:srgbClr val="000000"/>
          </a:solidFill>
          <a:ln w="12700">
            <a:solidFill>
              <a:srgbClr val="000000"/>
            </a:solidFill>
            <a:prstDash val="solid"/>
          </a:ln>
        </p:spPr>
        <p:txBody>
          <a:bodyPr/>
          <a:lstStyle/>
          <a:p>
            <a:endParaRPr lang="it-IT"/>
          </a:p>
        </p:txBody>
      </p:sp>
      <p:sp>
        <p:nvSpPr>
          <p:cNvPr id="6" name="Text 4"/>
          <p:cNvSpPr/>
          <p:nvPr/>
        </p:nvSpPr>
        <p:spPr>
          <a:xfrm>
            <a:off x="365760" y="1600200"/>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01</a:t>
            </a:r>
            <a:endParaRPr lang="en-US" sz="1300" dirty="0"/>
          </a:p>
        </p:txBody>
      </p:sp>
      <p:sp>
        <p:nvSpPr>
          <p:cNvPr id="7" name="Text 5"/>
          <p:cNvSpPr/>
          <p:nvPr/>
        </p:nvSpPr>
        <p:spPr>
          <a:xfrm>
            <a:off x="1005840" y="1600200"/>
            <a:ext cx="7772400" cy="292608"/>
          </a:xfrm>
          <a:prstGeom prst="rect">
            <a:avLst/>
          </a:prstGeom>
          <a:noFill/>
          <a:ln/>
        </p:spPr>
        <p:txBody>
          <a:bodyPr wrap="square" lIns="0" tIns="0" rIns="0" bIns="0" rtlCol="0" anchor="b"/>
          <a:lstStyle/>
          <a:p>
            <a:pPr marL="0" indent="0">
              <a:buNone/>
            </a:pPr>
            <a:r>
              <a:rPr lang="en-US" sz="1400" b="1" dirty="0">
                <a:solidFill>
                  <a:srgbClr val="000000"/>
                </a:solidFill>
                <a:latin typeface="Courier New" pitchFamily="34" charset="0"/>
                <a:ea typeface="Courier New" pitchFamily="34" charset="-122"/>
                <a:cs typeface="Courier New" pitchFamily="34" charset="-120"/>
              </a:rPr>
              <a:t>Obsolescenza degli algoritmi</a:t>
            </a:r>
            <a:endParaRPr lang="en-US" sz="1400" dirty="0"/>
          </a:p>
        </p:txBody>
      </p:sp>
      <p:sp>
        <p:nvSpPr>
          <p:cNvPr id="8" name="Text 6"/>
          <p:cNvSpPr/>
          <p:nvPr/>
        </p:nvSpPr>
        <p:spPr>
          <a:xfrm>
            <a:off x="1005840" y="1892808"/>
            <a:ext cx="7772400" cy="713232"/>
          </a:xfrm>
          <a:prstGeom prst="rect">
            <a:avLst/>
          </a:prstGeom>
          <a:noFill/>
          <a:ln/>
        </p:spPr>
        <p:txBody>
          <a:bodyPr wrap="square" lIns="0" tIns="0" rIns="0" bIns="0" rtlCol="0" anchor="t"/>
          <a:lstStyle/>
          <a:p>
            <a:pPr marL="0" indent="0">
              <a:buNone/>
            </a:pPr>
            <a:r>
              <a:rPr lang="en-US" sz="1200" dirty="0">
                <a:solidFill>
                  <a:srgbClr val="555555"/>
                </a:solidFill>
                <a:latin typeface="Courier New" pitchFamily="34" charset="0"/>
                <a:ea typeface="Courier New" pitchFamily="34" charset="-122"/>
                <a:cs typeface="Courier New" pitchFamily="34" charset="-120"/>
              </a:rPr>
              <a:t>Gli algoritmi attuali possono diventare obsoleti — come nel caso della Post-Quantum Cryptography (PQC), per cui tutti gli algoritmi a chiave pubblica dovranno essere sostituiti.</a:t>
            </a:r>
            <a:endParaRPr lang="en-US" sz="1200" dirty="0"/>
          </a:p>
        </p:txBody>
      </p:sp>
      <p:sp>
        <p:nvSpPr>
          <p:cNvPr id="9" name="Shape 7"/>
          <p:cNvSpPr/>
          <p:nvPr/>
        </p:nvSpPr>
        <p:spPr>
          <a:xfrm>
            <a:off x="365760" y="2697480"/>
            <a:ext cx="548640" cy="548640"/>
          </a:xfrm>
          <a:prstGeom prst="rect">
            <a:avLst/>
          </a:prstGeom>
          <a:solidFill>
            <a:srgbClr val="000000"/>
          </a:solidFill>
          <a:ln w="12700">
            <a:solidFill>
              <a:srgbClr val="000000"/>
            </a:solidFill>
            <a:prstDash val="solid"/>
          </a:ln>
        </p:spPr>
        <p:txBody>
          <a:bodyPr/>
          <a:lstStyle/>
          <a:p>
            <a:endParaRPr lang="it-IT"/>
          </a:p>
        </p:txBody>
      </p:sp>
      <p:sp>
        <p:nvSpPr>
          <p:cNvPr id="10" name="Text 8"/>
          <p:cNvSpPr/>
          <p:nvPr/>
        </p:nvSpPr>
        <p:spPr>
          <a:xfrm>
            <a:off x="365760" y="2697480"/>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02</a:t>
            </a:r>
            <a:endParaRPr lang="en-US" sz="1300" dirty="0"/>
          </a:p>
        </p:txBody>
      </p:sp>
      <p:sp>
        <p:nvSpPr>
          <p:cNvPr id="11" name="Text 9"/>
          <p:cNvSpPr/>
          <p:nvPr/>
        </p:nvSpPr>
        <p:spPr>
          <a:xfrm>
            <a:off x="1005840" y="2697480"/>
            <a:ext cx="7772400" cy="292608"/>
          </a:xfrm>
          <a:prstGeom prst="rect">
            <a:avLst/>
          </a:prstGeom>
          <a:noFill/>
          <a:ln/>
        </p:spPr>
        <p:txBody>
          <a:bodyPr wrap="square" lIns="0" tIns="0" rIns="0" bIns="0" rtlCol="0" anchor="b"/>
          <a:lstStyle/>
          <a:p>
            <a:pPr marL="0" indent="0">
              <a:buNone/>
            </a:pPr>
            <a:r>
              <a:rPr lang="en-US" sz="1400" b="1" dirty="0">
                <a:solidFill>
                  <a:srgbClr val="000000"/>
                </a:solidFill>
                <a:latin typeface="Courier New" pitchFamily="34" charset="0"/>
                <a:ea typeface="Courier New" pitchFamily="34" charset="-122"/>
                <a:cs typeface="Courier New" pitchFamily="34" charset="-120"/>
              </a:rPr>
              <a:t>Transizioni lunghe</a:t>
            </a:r>
            <a:endParaRPr lang="en-US" sz="1400" dirty="0"/>
          </a:p>
        </p:txBody>
      </p:sp>
      <p:sp>
        <p:nvSpPr>
          <p:cNvPr id="12" name="Text 10"/>
          <p:cNvSpPr/>
          <p:nvPr/>
        </p:nvSpPr>
        <p:spPr>
          <a:xfrm>
            <a:off x="1005840" y="2990088"/>
            <a:ext cx="7772400" cy="713232"/>
          </a:xfrm>
          <a:prstGeom prst="rect">
            <a:avLst/>
          </a:prstGeom>
          <a:noFill/>
          <a:ln/>
        </p:spPr>
        <p:txBody>
          <a:bodyPr wrap="square" lIns="0" tIns="0" rIns="0" bIns="0" rtlCol="0" anchor="t"/>
          <a:lstStyle/>
          <a:p>
            <a:pPr marL="0" indent="0">
              <a:buNone/>
            </a:pPr>
            <a:r>
              <a:rPr lang="en-US" sz="1200" dirty="0">
                <a:solidFill>
                  <a:srgbClr val="555555"/>
                </a:solidFill>
                <a:latin typeface="Courier New" pitchFamily="34" charset="0"/>
                <a:ea typeface="Courier New" pitchFamily="34" charset="-122"/>
                <a:cs typeface="Courier New" pitchFamily="34" charset="-120"/>
              </a:rPr>
              <a:t>Le transizioni richiedono decenni: cambiare un algoritmo implica aggiornare protocolli, librerie, hardware e tutta l'infrastruttura.</a:t>
            </a:r>
            <a:endParaRPr lang="en-US" sz="1200" dirty="0"/>
          </a:p>
        </p:txBody>
      </p:sp>
      <p:sp>
        <p:nvSpPr>
          <p:cNvPr id="13" name="Shape 11"/>
          <p:cNvSpPr/>
          <p:nvPr/>
        </p:nvSpPr>
        <p:spPr>
          <a:xfrm>
            <a:off x="365760" y="3794760"/>
            <a:ext cx="548640" cy="548640"/>
          </a:xfrm>
          <a:prstGeom prst="rect">
            <a:avLst/>
          </a:prstGeom>
          <a:solidFill>
            <a:srgbClr val="000000"/>
          </a:solidFill>
          <a:ln w="12700">
            <a:solidFill>
              <a:srgbClr val="000000"/>
            </a:solidFill>
            <a:prstDash val="solid"/>
          </a:ln>
        </p:spPr>
        <p:txBody>
          <a:bodyPr/>
          <a:lstStyle/>
          <a:p>
            <a:endParaRPr lang="it-IT"/>
          </a:p>
        </p:txBody>
      </p:sp>
      <p:sp>
        <p:nvSpPr>
          <p:cNvPr id="14" name="Text 12"/>
          <p:cNvSpPr/>
          <p:nvPr/>
        </p:nvSpPr>
        <p:spPr>
          <a:xfrm>
            <a:off x="365760" y="3794760"/>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03</a:t>
            </a:r>
            <a:endParaRPr lang="en-US" sz="1300" dirty="0"/>
          </a:p>
        </p:txBody>
      </p:sp>
      <p:sp>
        <p:nvSpPr>
          <p:cNvPr id="15" name="Text 13"/>
          <p:cNvSpPr/>
          <p:nvPr/>
        </p:nvSpPr>
        <p:spPr>
          <a:xfrm>
            <a:off x="1005840" y="3794760"/>
            <a:ext cx="7772400" cy="292608"/>
          </a:xfrm>
          <a:prstGeom prst="rect">
            <a:avLst/>
          </a:prstGeom>
          <a:noFill/>
          <a:ln/>
        </p:spPr>
        <p:txBody>
          <a:bodyPr wrap="square" lIns="0" tIns="0" rIns="0" bIns="0" rtlCol="0" anchor="b"/>
          <a:lstStyle/>
          <a:p>
            <a:pPr marL="0" indent="0">
              <a:buNone/>
            </a:pPr>
            <a:r>
              <a:rPr lang="en-US" sz="1400" b="1" dirty="0">
                <a:solidFill>
                  <a:srgbClr val="000000"/>
                </a:solidFill>
                <a:latin typeface="Courier New" pitchFamily="34" charset="0"/>
                <a:ea typeface="Courier New" pitchFamily="34" charset="-122"/>
                <a:cs typeface="Courier New" pitchFamily="34" charset="-120"/>
              </a:rPr>
              <a:t>Progettazione anticipata</a:t>
            </a:r>
            <a:endParaRPr lang="en-US" sz="1400" dirty="0"/>
          </a:p>
        </p:txBody>
      </p:sp>
      <p:sp>
        <p:nvSpPr>
          <p:cNvPr id="16" name="Text 14"/>
          <p:cNvSpPr/>
          <p:nvPr/>
        </p:nvSpPr>
        <p:spPr>
          <a:xfrm>
            <a:off x="1005840" y="4087368"/>
            <a:ext cx="7772400" cy="713232"/>
          </a:xfrm>
          <a:prstGeom prst="rect">
            <a:avLst/>
          </a:prstGeom>
          <a:noFill/>
          <a:ln/>
        </p:spPr>
        <p:txBody>
          <a:bodyPr wrap="square" lIns="0" tIns="0" rIns="0" bIns="0" rtlCol="0" anchor="t"/>
          <a:lstStyle/>
          <a:p>
            <a:pPr marL="0" indent="0">
              <a:buNone/>
            </a:pPr>
            <a:r>
              <a:rPr lang="en-US" sz="1200" dirty="0">
                <a:solidFill>
                  <a:srgbClr val="555555"/>
                </a:solidFill>
                <a:latin typeface="Courier New" pitchFamily="34" charset="0"/>
                <a:ea typeface="Courier New" pitchFamily="34" charset="-122"/>
                <a:cs typeface="Courier New" pitchFamily="34" charset="-120"/>
              </a:rPr>
              <a:t>Occorre garantire la capacità di sostituzione prima che sia necessaria, progettando in anticipo per il cambiamento.</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365760" y="457200"/>
            <a:ext cx="64008" cy="822960"/>
          </a:xfrm>
          <a:prstGeom prst="rect">
            <a:avLst/>
          </a:prstGeom>
          <a:solidFill>
            <a:srgbClr val="FFFFFF"/>
          </a:solidFill>
          <a:ln w="12700">
            <a:solidFill>
              <a:srgbClr val="FFFFFF"/>
            </a:solidFill>
            <a:prstDash val="solid"/>
          </a:ln>
        </p:spPr>
        <p:txBody>
          <a:bodyPr/>
          <a:lstStyle/>
          <a:p>
            <a:endParaRPr lang="it-IT"/>
          </a:p>
        </p:txBody>
      </p:sp>
      <p:sp>
        <p:nvSpPr>
          <p:cNvPr id="3" name="Text 1"/>
          <p:cNvSpPr/>
          <p:nvPr/>
        </p:nvSpPr>
        <p:spPr>
          <a:xfrm>
            <a:off x="548640" y="457200"/>
            <a:ext cx="8229600" cy="822960"/>
          </a:xfrm>
          <a:prstGeom prst="rect">
            <a:avLst/>
          </a:prstGeom>
          <a:noFill/>
          <a:ln/>
        </p:spPr>
        <p:txBody>
          <a:bodyPr wrap="square" lIns="0" tIns="0" rIns="0" bIns="0" rtlCol="0" anchor="ctr"/>
          <a:lstStyle/>
          <a:p>
            <a:pPr marL="0" indent="0">
              <a:buNone/>
            </a:pPr>
            <a:r>
              <a:rPr lang="en-US" sz="2800" b="1" dirty="0">
                <a:solidFill>
                  <a:srgbClr val="FFFFFF"/>
                </a:solidFill>
                <a:latin typeface="Courier New" pitchFamily="34" charset="0"/>
                <a:ea typeface="Courier New" pitchFamily="34" charset="-122"/>
                <a:cs typeface="Courier New" pitchFamily="34" charset="-120"/>
              </a:rPr>
              <a:t>COSA SIGNIFICA</a:t>
            </a:r>
            <a:endParaRPr lang="en-US" sz="2800" dirty="0"/>
          </a:p>
          <a:p>
            <a:pPr marL="0" indent="0">
              <a:buNone/>
            </a:pPr>
            <a:r>
              <a:rPr lang="en-US" sz="2800" b="1" dirty="0">
                <a:solidFill>
                  <a:srgbClr val="FFFFFF"/>
                </a:solidFill>
                <a:latin typeface="Courier New" pitchFamily="34" charset="0"/>
                <a:ea typeface="Courier New" pitchFamily="34" charset="-122"/>
                <a:cs typeface="Courier New" pitchFamily="34" charset="-120"/>
              </a:rPr>
              <a:t>CAMBIAMENTO</a:t>
            </a:r>
            <a:endParaRPr lang="en-US" sz="2800" dirty="0"/>
          </a:p>
        </p:txBody>
      </p:sp>
      <p:sp>
        <p:nvSpPr>
          <p:cNvPr id="4" name="Shape 2"/>
          <p:cNvSpPr/>
          <p:nvPr/>
        </p:nvSpPr>
        <p:spPr>
          <a:xfrm>
            <a:off x="365760" y="1417320"/>
            <a:ext cx="8412480" cy="22860"/>
          </a:xfrm>
          <a:prstGeom prst="rect">
            <a:avLst/>
          </a:prstGeom>
          <a:solidFill>
            <a:srgbClr val="FFFFFF"/>
          </a:solidFill>
          <a:ln w="12700">
            <a:solidFill>
              <a:srgbClr val="FFFFFF"/>
            </a:solidFill>
            <a:prstDash val="solid"/>
          </a:ln>
        </p:spPr>
        <p:txBody>
          <a:bodyPr/>
          <a:lstStyle/>
          <a:p>
            <a:endParaRPr lang="it-IT"/>
          </a:p>
        </p:txBody>
      </p:sp>
      <p:sp>
        <p:nvSpPr>
          <p:cNvPr id="5" name="Shape 3"/>
          <p:cNvSpPr/>
          <p:nvPr/>
        </p:nvSpPr>
        <p:spPr>
          <a:xfrm>
            <a:off x="365760" y="1600200"/>
            <a:ext cx="4023360" cy="2720340"/>
          </a:xfrm>
          <a:prstGeom prst="rect">
            <a:avLst/>
          </a:prstGeom>
          <a:solidFill>
            <a:srgbClr val="111111"/>
          </a:solidFill>
          <a:ln w="12700">
            <a:solidFill>
              <a:srgbClr val="AAAAAA"/>
            </a:solidFill>
            <a:prstDash val="solid"/>
          </a:ln>
        </p:spPr>
        <p:txBody>
          <a:bodyPr/>
          <a:lstStyle/>
          <a:p>
            <a:endParaRPr lang="it-IT" dirty="0"/>
          </a:p>
        </p:txBody>
      </p:sp>
      <p:sp>
        <p:nvSpPr>
          <p:cNvPr id="6" name="Text 4"/>
          <p:cNvSpPr/>
          <p:nvPr/>
        </p:nvSpPr>
        <p:spPr>
          <a:xfrm>
            <a:off x="502920" y="1737360"/>
            <a:ext cx="3749040" cy="640080"/>
          </a:xfrm>
          <a:prstGeom prst="rect">
            <a:avLst/>
          </a:prstGeom>
          <a:noFill/>
          <a:ln/>
        </p:spPr>
        <p:txBody>
          <a:bodyPr wrap="square"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SOSTITUZIONE</a:t>
            </a:r>
            <a:endParaRPr lang="en-US" sz="1400" dirty="0"/>
          </a:p>
          <a:p>
            <a:pPr marL="0" indent="0" algn="ctr">
              <a:buNone/>
            </a:pPr>
            <a:r>
              <a:rPr lang="en-US" sz="1400" b="1" dirty="0">
                <a:solidFill>
                  <a:srgbClr val="FFFFFF"/>
                </a:solidFill>
                <a:latin typeface="Courier New" pitchFamily="34" charset="0"/>
                <a:ea typeface="Courier New" pitchFamily="34" charset="-122"/>
                <a:cs typeface="Courier New" pitchFamily="34" charset="-120"/>
              </a:rPr>
              <a:t>DELL'ALGORITMO</a:t>
            </a:r>
            <a:endParaRPr lang="en-US" sz="1400" dirty="0"/>
          </a:p>
        </p:txBody>
      </p:sp>
      <p:sp>
        <p:nvSpPr>
          <p:cNvPr id="7" name="Text 5"/>
          <p:cNvSpPr/>
          <p:nvPr/>
        </p:nvSpPr>
        <p:spPr>
          <a:xfrm>
            <a:off x="502920" y="2423160"/>
            <a:ext cx="3749040" cy="1920240"/>
          </a:xfrm>
          <a:prstGeom prst="rect">
            <a:avLst/>
          </a:prstGeom>
          <a:noFill/>
          <a:ln/>
        </p:spPr>
        <p:txBody>
          <a:bodyPr wrap="square" rtlCol="0" anchor="ctr"/>
          <a:lstStyle/>
          <a:p>
            <a:pPr marL="0" indent="0" algn="l">
              <a:buNone/>
            </a:pPr>
            <a:r>
              <a:rPr lang="en-US" sz="1300" dirty="0">
                <a:solidFill>
                  <a:schemeClr val="bg1">
                    <a:lumMod val="85000"/>
                  </a:schemeClr>
                </a:solidFill>
                <a:latin typeface="Courier New" pitchFamily="34" charset="0"/>
                <a:ea typeface="Courier New" pitchFamily="34" charset="-122"/>
                <a:cs typeface="Courier New" pitchFamily="34" charset="-120"/>
              </a:rPr>
              <a:t>Passare da un algoritmo crittografico a un altro, ad esempio la migrazione verso algoritmi post-quantum (CRYSTALS-Kyber, CRYSTALS-Dilithium, SPHINCS+…).</a:t>
            </a:r>
            <a:endParaRPr lang="en-US" sz="1300" dirty="0">
              <a:solidFill>
                <a:schemeClr val="bg1">
                  <a:lumMod val="85000"/>
                </a:schemeClr>
              </a:solidFill>
            </a:endParaRPr>
          </a:p>
        </p:txBody>
      </p:sp>
      <p:sp>
        <p:nvSpPr>
          <p:cNvPr id="8" name="Shape 6"/>
          <p:cNvSpPr/>
          <p:nvPr/>
        </p:nvSpPr>
        <p:spPr>
          <a:xfrm>
            <a:off x="4754880" y="1600200"/>
            <a:ext cx="4023360" cy="2720340"/>
          </a:xfrm>
          <a:prstGeom prst="rect">
            <a:avLst/>
          </a:prstGeom>
          <a:solidFill>
            <a:srgbClr val="111111"/>
          </a:solidFill>
          <a:ln w="12700">
            <a:solidFill>
              <a:srgbClr val="AAAAAA"/>
            </a:solidFill>
            <a:prstDash val="solid"/>
          </a:ln>
        </p:spPr>
        <p:txBody>
          <a:bodyPr/>
          <a:lstStyle/>
          <a:p>
            <a:endParaRPr lang="it-IT"/>
          </a:p>
        </p:txBody>
      </p:sp>
      <p:sp>
        <p:nvSpPr>
          <p:cNvPr id="9" name="Text 7"/>
          <p:cNvSpPr/>
          <p:nvPr/>
        </p:nvSpPr>
        <p:spPr>
          <a:xfrm>
            <a:off x="4892040" y="1737360"/>
            <a:ext cx="3749040" cy="640080"/>
          </a:xfrm>
          <a:prstGeom prst="rect">
            <a:avLst/>
          </a:prstGeom>
          <a:noFill/>
          <a:ln/>
        </p:spPr>
        <p:txBody>
          <a:bodyPr wrap="square"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CONFIGURAZIONE</a:t>
            </a:r>
            <a:endParaRPr lang="en-US" sz="1400" dirty="0"/>
          </a:p>
          <a:p>
            <a:pPr marL="0" indent="0" algn="ctr">
              <a:buNone/>
            </a:pPr>
            <a:r>
              <a:rPr lang="en-US" sz="1400" b="1" dirty="0">
                <a:solidFill>
                  <a:srgbClr val="FFFFFF"/>
                </a:solidFill>
                <a:latin typeface="Courier New" pitchFamily="34" charset="0"/>
                <a:ea typeface="Courier New" pitchFamily="34" charset="-122"/>
                <a:cs typeface="Courier New" pitchFamily="34" charset="-120"/>
              </a:rPr>
              <a:t>DEI PARAMETRI</a:t>
            </a:r>
            <a:endParaRPr lang="en-US" sz="1400" dirty="0"/>
          </a:p>
        </p:txBody>
      </p:sp>
      <p:sp>
        <p:nvSpPr>
          <p:cNvPr id="10" name="Text 8"/>
          <p:cNvSpPr/>
          <p:nvPr/>
        </p:nvSpPr>
        <p:spPr>
          <a:xfrm>
            <a:off x="4892040" y="2423160"/>
            <a:ext cx="3749040" cy="1920240"/>
          </a:xfrm>
          <a:prstGeom prst="rect">
            <a:avLst/>
          </a:prstGeom>
          <a:noFill/>
          <a:ln/>
        </p:spPr>
        <p:txBody>
          <a:bodyPr wrap="square" rtlCol="0" anchor="ctr"/>
          <a:lstStyle/>
          <a:p>
            <a:pPr marL="0" indent="0" algn="l">
              <a:buNone/>
            </a:pPr>
            <a:r>
              <a:rPr lang="en-US" sz="1300" dirty="0">
                <a:solidFill>
                  <a:schemeClr val="bg1">
                    <a:lumMod val="85000"/>
                  </a:schemeClr>
                </a:solidFill>
                <a:latin typeface="Courier New" pitchFamily="34" charset="0"/>
                <a:ea typeface="Courier New" pitchFamily="34" charset="-122"/>
                <a:cs typeface="Courier New" pitchFamily="34" charset="-120"/>
              </a:rPr>
              <a:t>Modificare i parametri di uno stesso algoritmo, come ad esempio la lunghezza delle chiavi, senza sostituire l'intero sistema.</a:t>
            </a:r>
            <a:endParaRPr lang="en-US" sz="1300" dirty="0">
              <a:solidFill>
                <a:schemeClr val="bg1">
                  <a:lumMod val="85000"/>
                </a:schemeClr>
              </a:solidFill>
            </a:endParaRPr>
          </a:p>
        </p:txBody>
      </p:sp>
      <p:sp>
        <p:nvSpPr>
          <p:cNvPr id="11" name="Text 9"/>
          <p:cNvSpPr/>
          <p:nvPr/>
        </p:nvSpPr>
        <p:spPr>
          <a:xfrm>
            <a:off x="365760" y="4480560"/>
            <a:ext cx="8412480" cy="502920"/>
          </a:xfrm>
          <a:prstGeom prst="rect">
            <a:avLst/>
          </a:prstGeom>
          <a:noFill/>
          <a:ln/>
        </p:spPr>
        <p:txBody>
          <a:bodyPr wrap="square" rtlCol="0" anchor="ctr"/>
          <a:lstStyle/>
          <a:p>
            <a:pPr marL="0" indent="0" algn="ctr">
              <a:buNone/>
            </a:pPr>
            <a:r>
              <a:rPr lang="en-US" sz="1300" i="1" dirty="0">
                <a:solidFill>
                  <a:schemeClr val="bg1">
                    <a:lumMod val="85000"/>
                  </a:schemeClr>
                </a:solidFill>
                <a:latin typeface="Courier New" pitchFamily="34" charset="0"/>
                <a:ea typeface="Courier New" pitchFamily="34" charset="-122"/>
                <a:cs typeface="Courier New" pitchFamily="34" charset="-120"/>
              </a:rPr>
              <a:t>I sistemi devono supportare la coesistenza di protocolli diversi per compatibilità con i sistemi esistenti.</a:t>
            </a:r>
            <a:endParaRPr lang="en-US" sz="1300" dirty="0">
              <a:solidFill>
                <a:schemeClr val="bg1">
                  <a:lumMod val="85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64008" cy="822960"/>
          </a:xfrm>
          <a:prstGeom prst="rect">
            <a:avLst/>
          </a:prstGeom>
          <a:solidFill>
            <a:srgbClr val="000000"/>
          </a:solidFill>
          <a:ln w="12700">
            <a:solidFill>
              <a:srgbClr val="000000"/>
            </a:solidFill>
            <a:prstDash val="solid"/>
          </a:ln>
        </p:spPr>
        <p:txBody>
          <a:bodyPr/>
          <a:lstStyle/>
          <a:p>
            <a:endParaRPr lang="it-IT"/>
          </a:p>
        </p:txBody>
      </p:sp>
      <p:sp>
        <p:nvSpPr>
          <p:cNvPr id="3" name="Text 1"/>
          <p:cNvSpPr/>
          <p:nvPr/>
        </p:nvSpPr>
        <p:spPr>
          <a:xfrm>
            <a:off x="548640" y="457200"/>
            <a:ext cx="8229600" cy="822960"/>
          </a:xfrm>
          <a:prstGeom prst="rect">
            <a:avLst/>
          </a:prstGeom>
          <a:noFill/>
          <a:ln/>
        </p:spPr>
        <p:txBody>
          <a:bodyPr wrap="square" lIns="0" tIns="0" rIns="0" bIns="0" rtlCol="0" anchor="ctr"/>
          <a:lstStyle/>
          <a:p>
            <a:pPr marL="0" indent="0">
              <a:buNone/>
            </a:pPr>
            <a:r>
              <a:rPr lang="en-US" sz="2800" b="1" dirty="0">
                <a:solidFill>
                  <a:srgbClr val="000000"/>
                </a:solidFill>
                <a:latin typeface="Courier New" pitchFamily="34" charset="0"/>
                <a:ea typeface="Courier New" pitchFamily="34" charset="-122"/>
                <a:cs typeface="Courier New" pitchFamily="34" charset="-120"/>
              </a:rPr>
              <a:t>COME SI IMPLEMENTA</a:t>
            </a:r>
            <a:endParaRPr lang="en-US" sz="2800" dirty="0"/>
          </a:p>
        </p:txBody>
      </p:sp>
      <p:sp>
        <p:nvSpPr>
          <p:cNvPr id="4" name="Shape 2"/>
          <p:cNvSpPr/>
          <p:nvPr/>
        </p:nvSpPr>
        <p:spPr>
          <a:xfrm>
            <a:off x="365760" y="1417320"/>
            <a:ext cx="8412480" cy="22860"/>
          </a:xfrm>
          <a:prstGeom prst="rect">
            <a:avLst/>
          </a:prstGeom>
          <a:solidFill>
            <a:srgbClr val="000000"/>
          </a:solidFill>
          <a:ln w="12700">
            <a:solidFill>
              <a:srgbClr val="000000"/>
            </a:solidFill>
            <a:prstDash val="solid"/>
          </a:ln>
        </p:spPr>
        <p:txBody>
          <a:bodyPr/>
          <a:lstStyle/>
          <a:p>
            <a:endParaRPr lang="it-IT"/>
          </a:p>
        </p:txBody>
      </p:sp>
      <p:sp>
        <p:nvSpPr>
          <p:cNvPr id="5" name="Shape 3"/>
          <p:cNvSpPr/>
          <p:nvPr/>
        </p:nvSpPr>
        <p:spPr>
          <a:xfrm>
            <a:off x="457200" y="1828800"/>
            <a:ext cx="2286000" cy="731520"/>
          </a:xfrm>
          <a:prstGeom prst="rect">
            <a:avLst/>
          </a:prstGeom>
          <a:solidFill>
            <a:srgbClr val="EEEEEE"/>
          </a:solidFill>
          <a:ln w="19050">
            <a:solidFill>
              <a:srgbClr val="000000"/>
            </a:solidFill>
            <a:prstDash val="solid"/>
          </a:ln>
        </p:spPr>
        <p:txBody>
          <a:bodyPr/>
          <a:lstStyle/>
          <a:p>
            <a:endParaRPr lang="it-IT"/>
          </a:p>
        </p:txBody>
      </p:sp>
      <p:sp>
        <p:nvSpPr>
          <p:cNvPr id="6" name="Text 4"/>
          <p:cNvSpPr/>
          <p:nvPr/>
        </p:nvSpPr>
        <p:spPr>
          <a:xfrm>
            <a:off x="457200" y="1828800"/>
            <a:ext cx="2286000" cy="731520"/>
          </a:xfrm>
          <a:prstGeom prst="rect">
            <a:avLst/>
          </a:prstGeom>
          <a:noFill/>
          <a:ln/>
        </p:spPr>
        <p:txBody>
          <a:bodyPr wrap="square" rtlCol="0" anchor="ctr"/>
          <a:lstStyle/>
          <a:p>
            <a:pPr marL="0" indent="0" algn="ctr">
              <a:buNone/>
            </a:pPr>
            <a:r>
              <a:rPr lang="en-US" sz="1200" b="1" dirty="0">
                <a:solidFill>
                  <a:srgbClr val="000000"/>
                </a:solidFill>
                <a:latin typeface="Courier New" pitchFamily="34" charset="0"/>
                <a:ea typeface="Courier New" pitchFamily="34" charset="-122"/>
                <a:cs typeface="Courier New" pitchFamily="34" charset="-120"/>
              </a:rPr>
              <a:t>APPLICAZIONE</a:t>
            </a:r>
            <a:endParaRPr lang="en-US" sz="1200" dirty="0"/>
          </a:p>
        </p:txBody>
      </p:sp>
      <p:sp>
        <p:nvSpPr>
          <p:cNvPr id="9" name="Shape 7"/>
          <p:cNvSpPr/>
          <p:nvPr/>
        </p:nvSpPr>
        <p:spPr>
          <a:xfrm>
            <a:off x="3657600" y="1828800"/>
            <a:ext cx="2286000" cy="731520"/>
          </a:xfrm>
          <a:prstGeom prst="rect">
            <a:avLst/>
          </a:prstGeom>
          <a:solidFill>
            <a:srgbClr val="000000"/>
          </a:solidFill>
          <a:ln w="19050">
            <a:solidFill>
              <a:srgbClr val="000000"/>
            </a:solidFill>
            <a:prstDash val="solid"/>
          </a:ln>
        </p:spPr>
        <p:txBody>
          <a:bodyPr/>
          <a:lstStyle/>
          <a:p>
            <a:endParaRPr lang="it-IT"/>
          </a:p>
        </p:txBody>
      </p:sp>
      <p:sp>
        <p:nvSpPr>
          <p:cNvPr id="10" name="Text 8"/>
          <p:cNvSpPr/>
          <p:nvPr/>
        </p:nvSpPr>
        <p:spPr>
          <a:xfrm>
            <a:off x="3657600" y="1828800"/>
            <a:ext cx="2286000" cy="731520"/>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CRYPTO-API</a:t>
            </a:r>
            <a:endParaRPr lang="en-US" sz="1200" dirty="0"/>
          </a:p>
        </p:txBody>
      </p:sp>
      <p:sp>
        <p:nvSpPr>
          <p:cNvPr id="12" name="Shape 10"/>
          <p:cNvSpPr/>
          <p:nvPr/>
        </p:nvSpPr>
        <p:spPr>
          <a:xfrm>
            <a:off x="6858000" y="1828800"/>
            <a:ext cx="1920240" cy="731520"/>
          </a:xfrm>
          <a:prstGeom prst="rect">
            <a:avLst/>
          </a:prstGeom>
          <a:solidFill>
            <a:srgbClr val="EEEEEE"/>
          </a:solidFill>
          <a:ln w="19050">
            <a:solidFill>
              <a:srgbClr val="000000"/>
            </a:solidFill>
            <a:prstDash val="solid"/>
          </a:ln>
        </p:spPr>
        <p:txBody>
          <a:bodyPr/>
          <a:lstStyle/>
          <a:p>
            <a:endParaRPr lang="it-IT"/>
          </a:p>
        </p:txBody>
      </p:sp>
      <p:sp>
        <p:nvSpPr>
          <p:cNvPr id="13" name="Text 11"/>
          <p:cNvSpPr/>
          <p:nvPr/>
        </p:nvSpPr>
        <p:spPr>
          <a:xfrm>
            <a:off x="6858000" y="1828800"/>
            <a:ext cx="1920240" cy="731520"/>
          </a:xfrm>
          <a:prstGeom prst="rect">
            <a:avLst/>
          </a:prstGeom>
          <a:noFill/>
          <a:ln/>
        </p:spPr>
        <p:txBody>
          <a:bodyPr wrap="square" rtlCol="0" anchor="ctr"/>
          <a:lstStyle/>
          <a:p>
            <a:pPr marL="0" indent="0" algn="ctr">
              <a:buNone/>
            </a:pPr>
            <a:r>
              <a:rPr lang="en-US" sz="1200" b="1" dirty="0">
                <a:solidFill>
                  <a:srgbClr val="000000"/>
                </a:solidFill>
                <a:latin typeface="Courier New" pitchFamily="34" charset="0"/>
                <a:ea typeface="Courier New" pitchFamily="34" charset="-122"/>
                <a:cs typeface="Courier New" pitchFamily="34" charset="-120"/>
              </a:rPr>
              <a:t>ALGORITMO</a:t>
            </a:r>
            <a:endParaRPr lang="en-US" sz="1200" dirty="0"/>
          </a:p>
        </p:txBody>
      </p:sp>
      <p:sp>
        <p:nvSpPr>
          <p:cNvPr id="14" name="Text 12"/>
          <p:cNvSpPr/>
          <p:nvPr/>
        </p:nvSpPr>
        <p:spPr>
          <a:xfrm>
            <a:off x="3383280" y="2606040"/>
            <a:ext cx="2743200" cy="320040"/>
          </a:xfrm>
          <a:prstGeom prst="rect">
            <a:avLst/>
          </a:prstGeom>
          <a:noFill/>
          <a:ln/>
        </p:spPr>
        <p:txBody>
          <a:bodyPr wrap="square" rtlCol="0" anchor="ctr"/>
          <a:lstStyle/>
          <a:p>
            <a:pPr marL="0" indent="0" algn="ctr">
              <a:buNone/>
            </a:pPr>
            <a:r>
              <a:rPr lang="en-US" sz="1100" i="1" dirty="0">
                <a:solidFill>
                  <a:srgbClr val="555555"/>
                </a:solidFill>
                <a:latin typeface="Courier New" pitchFamily="34" charset="0"/>
                <a:ea typeface="Courier New" pitchFamily="34" charset="-122"/>
                <a:cs typeface="Courier New" pitchFamily="34" charset="-120"/>
              </a:rPr>
              <a:t>livello di astrazione</a:t>
            </a:r>
            <a:endParaRPr lang="en-US" sz="1100" dirty="0"/>
          </a:p>
        </p:txBody>
      </p:sp>
      <p:sp>
        <p:nvSpPr>
          <p:cNvPr id="15" name="Text 13"/>
          <p:cNvSpPr/>
          <p:nvPr/>
        </p:nvSpPr>
        <p:spPr>
          <a:xfrm>
            <a:off x="365760" y="2926080"/>
            <a:ext cx="8412480" cy="411480"/>
          </a:xfrm>
          <a:prstGeom prst="rect">
            <a:avLst/>
          </a:prstGeom>
          <a:noFill/>
          <a:ln/>
        </p:spPr>
        <p:txBody>
          <a:bodyPr wrap="square" rtlCol="0" anchor="ctr"/>
          <a:lstStyle/>
          <a:p>
            <a:pPr marL="0" indent="0">
              <a:buNone/>
            </a:pPr>
            <a:r>
              <a:rPr lang="en-US" sz="1400" b="1" dirty="0">
                <a:solidFill>
                  <a:srgbClr val="000000"/>
                </a:solidFill>
                <a:latin typeface="Courier New" pitchFamily="34" charset="0"/>
                <a:ea typeface="Courier New" pitchFamily="34" charset="-122"/>
                <a:cs typeface="Courier New" pitchFamily="34" charset="-120"/>
              </a:rPr>
              <a:t>Vantaggi del livello di astrazione (Crypto-API):</a:t>
            </a:r>
            <a:endParaRPr lang="en-US" sz="1400" dirty="0"/>
          </a:p>
        </p:txBody>
      </p:sp>
      <p:sp>
        <p:nvSpPr>
          <p:cNvPr id="16" name="Text 14"/>
          <p:cNvSpPr/>
          <p:nvPr/>
        </p:nvSpPr>
        <p:spPr>
          <a:xfrm>
            <a:off x="548640" y="3337560"/>
            <a:ext cx="8229600" cy="1554480"/>
          </a:xfrm>
          <a:prstGeom prst="rect">
            <a:avLst/>
          </a:prstGeom>
          <a:noFill/>
          <a:ln/>
        </p:spPr>
        <p:txBody>
          <a:bodyPr wrap="square" rtlCol="0" anchor="ctr"/>
          <a:lstStyle/>
          <a:p>
            <a:pPr marL="0" indent="0">
              <a:buNone/>
            </a:pPr>
            <a:r>
              <a:rPr lang="en-US" sz="1300" dirty="0">
                <a:solidFill>
                  <a:schemeClr val="tx1">
                    <a:lumMod val="95000"/>
                    <a:lumOff val="5000"/>
                  </a:schemeClr>
                </a:solidFill>
                <a:latin typeface="Courier New" pitchFamily="34" charset="0"/>
                <a:ea typeface="Courier New" pitchFamily="34" charset="-122"/>
                <a:cs typeface="Courier New" pitchFamily="34" charset="-120"/>
              </a:rPr>
              <a:t>▪  Cambiare l'algoritmo solo a livello di libreria, senza riscrivere la logica applicativa.</a:t>
            </a:r>
            <a:endParaRPr lang="en-US" sz="1300" dirty="0">
              <a:solidFill>
                <a:schemeClr val="tx1">
                  <a:lumMod val="95000"/>
                  <a:lumOff val="5000"/>
                </a:schemeClr>
              </a:solidFill>
            </a:endParaRPr>
          </a:p>
          <a:p>
            <a:pPr marL="0" indent="0">
              <a:buNone/>
            </a:pPr>
            <a:r>
              <a:rPr lang="en-US" sz="1300" dirty="0">
                <a:solidFill>
                  <a:schemeClr val="tx1">
                    <a:lumMod val="95000"/>
                    <a:lumOff val="5000"/>
                  </a:schemeClr>
                </a:solidFill>
                <a:latin typeface="Courier New" pitchFamily="34" charset="0"/>
                <a:ea typeface="Courier New" pitchFamily="34" charset="-122"/>
                <a:cs typeface="Courier New" pitchFamily="34" charset="-120"/>
              </a:rPr>
              <a:t>▪  Lo stesso principio si applica ai sistemi operativi.</a:t>
            </a:r>
            <a:endParaRPr lang="en-US" sz="1300" dirty="0">
              <a:solidFill>
                <a:schemeClr val="tx1">
                  <a:lumMod val="95000"/>
                  <a:lumOff val="5000"/>
                </a:schemeClr>
              </a:solidFill>
            </a:endParaRPr>
          </a:p>
          <a:p>
            <a:pPr marL="0" indent="0">
              <a:buNone/>
            </a:pPr>
            <a:r>
              <a:rPr lang="en-US" sz="1300" dirty="0">
                <a:solidFill>
                  <a:schemeClr val="tx1">
                    <a:lumMod val="95000"/>
                    <a:lumOff val="5000"/>
                  </a:schemeClr>
                </a:solidFill>
                <a:latin typeface="Courier New" pitchFamily="34" charset="0"/>
                <a:ea typeface="Courier New" pitchFamily="34" charset="-122"/>
                <a:cs typeface="Courier New" pitchFamily="34" charset="-120"/>
              </a:rPr>
              <a:t>▪  Le applicazioni sono completamente disaccoppiate dai protocolli crittografici sottostanti.</a:t>
            </a:r>
            <a:endParaRPr lang="en-US" sz="1300" dirty="0">
              <a:solidFill>
                <a:schemeClr val="tx1">
                  <a:lumMod val="95000"/>
                  <a:lumOff val="5000"/>
                </a:schemeClr>
              </a:solidFill>
            </a:endParaRPr>
          </a:p>
        </p:txBody>
      </p:sp>
      <p:cxnSp>
        <p:nvCxnSpPr>
          <p:cNvPr id="18" name="Connettore 2 17">
            <a:extLst>
              <a:ext uri="{FF2B5EF4-FFF2-40B4-BE49-F238E27FC236}">
                <a16:creationId xmlns:a16="http://schemas.microsoft.com/office/drawing/2014/main" id="{B4128612-FEDF-C0CE-9E53-89E6DCD53A14}"/>
              </a:ext>
            </a:extLst>
          </p:cNvPr>
          <p:cNvCxnSpPr>
            <a:stCxn id="5" idx="3"/>
            <a:endCxn id="9" idx="1"/>
          </p:cNvCxnSpPr>
          <p:nvPr/>
        </p:nvCxnSpPr>
        <p:spPr>
          <a:xfrm>
            <a:off x="2743200" y="2194560"/>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ttore 2 18">
            <a:extLst>
              <a:ext uri="{FF2B5EF4-FFF2-40B4-BE49-F238E27FC236}">
                <a16:creationId xmlns:a16="http://schemas.microsoft.com/office/drawing/2014/main" id="{AB3AAFF2-FB3D-C8BA-A012-E1C645BEF3E9}"/>
              </a:ext>
            </a:extLst>
          </p:cNvPr>
          <p:cNvCxnSpPr>
            <a:cxnSpLocks/>
            <a:stCxn id="10" idx="3"/>
            <a:endCxn id="12" idx="1"/>
          </p:cNvCxnSpPr>
          <p:nvPr/>
        </p:nvCxnSpPr>
        <p:spPr>
          <a:xfrm>
            <a:off x="5943600" y="2194560"/>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64008" cy="822960"/>
          </a:xfrm>
          <a:prstGeom prst="rect">
            <a:avLst/>
          </a:prstGeom>
          <a:solidFill>
            <a:srgbClr val="000000"/>
          </a:solidFill>
          <a:ln w="12700">
            <a:solidFill>
              <a:srgbClr val="000000"/>
            </a:solidFill>
            <a:prstDash val="solid"/>
          </a:ln>
        </p:spPr>
        <p:txBody>
          <a:bodyPr/>
          <a:lstStyle/>
          <a:p>
            <a:endParaRPr lang="it-IT"/>
          </a:p>
        </p:txBody>
      </p:sp>
      <p:sp>
        <p:nvSpPr>
          <p:cNvPr id="3" name="Text 1"/>
          <p:cNvSpPr/>
          <p:nvPr/>
        </p:nvSpPr>
        <p:spPr>
          <a:xfrm>
            <a:off x="548640" y="457200"/>
            <a:ext cx="8229600" cy="822960"/>
          </a:xfrm>
          <a:prstGeom prst="rect">
            <a:avLst/>
          </a:prstGeom>
          <a:noFill/>
          <a:ln/>
        </p:spPr>
        <p:txBody>
          <a:bodyPr wrap="square" lIns="0" tIns="0" rIns="0" bIns="0" rtlCol="0" anchor="ctr"/>
          <a:lstStyle/>
          <a:p>
            <a:pPr marL="0" indent="0">
              <a:buNone/>
            </a:pPr>
            <a:r>
              <a:rPr lang="en-US" sz="2800" b="1" dirty="0">
                <a:solidFill>
                  <a:srgbClr val="000000"/>
                </a:solidFill>
                <a:latin typeface="Courier New" pitchFamily="34" charset="0"/>
                <a:ea typeface="Courier New" pitchFamily="34" charset="-122"/>
                <a:cs typeface="Courier New" pitchFamily="34" charset="-120"/>
              </a:rPr>
              <a:t>CLOUD</a:t>
            </a:r>
            <a:endParaRPr lang="en-US" sz="2800" dirty="0"/>
          </a:p>
        </p:txBody>
      </p:sp>
      <p:sp>
        <p:nvSpPr>
          <p:cNvPr id="4" name="Shape 2"/>
          <p:cNvSpPr/>
          <p:nvPr/>
        </p:nvSpPr>
        <p:spPr>
          <a:xfrm>
            <a:off x="365760" y="1417320"/>
            <a:ext cx="8412480" cy="22860"/>
          </a:xfrm>
          <a:prstGeom prst="rect">
            <a:avLst/>
          </a:prstGeom>
          <a:solidFill>
            <a:srgbClr val="000000"/>
          </a:solidFill>
          <a:ln w="12700">
            <a:solidFill>
              <a:srgbClr val="000000"/>
            </a:solidFill>
            <a:prstDash val="solid"/>
          </a:ln>
        </p:spPr>
        <p:txBody>
          <a:bodyPr/>
          <a:lstStyle/>
          <a:p>
            <a:endParaRPr lang="it-IT"/>
          </a:p>
        </p:txBody>
      </p:sp>
      <p:sp>
        <p:nvSpPr>
          <p:cNvPr id="5" name="Text 3"/>
          <p:cNvSpPr/>
          <p:nvPr/>
        </p:nvSpPr>
        <p:spPr>
          <a:xfrm>
            <a:off x="3718560" y="969264"/>
            <a:ext cx="3657600" cy="320040"/>
          </a:xfrm>
          <a:prstGeom prst="rect">
            <a:avLst/>
          </a:prstGeom>
          <a:noFill/>
          <a:ln/>
        </p:spPr>
        <p:txBody>
          <a:bodyPr wrap="square" rtlCol="0" anchor="ctr"/>
          <a:lstStyle/>
          <a:p>
            <a:pPr marL="0" indent="0">
              <a:buNone/>
            </a:pPr>
            <a:r>
              <a:rPr lang="en-US" sz="1000" i="1" dirty="0">
                <a:solidFill>
                  <a:srgbClr val="AAAAAA"/>
                </a:solidFill>
                <a:latin typeface="Courier New" pitchFamily="34" charset="0"/>
                <a:ea typeface="Courier New" pitchFamily="34" charset="-122"/>
                <a:cs typeface="Courier New" pitchFamily="34" charset="-120"/>
              </a:rPr>
              <a:t>Sezione 4 — pag. 23–24</a:t>
            </a:r>
            <a:endParaRPr lang="en-US" sz="1000" dirty="0"/>
          </a:p>
        </p:txBody>
      </p:sp>
      <p:sp>
        <p:nvSpPr>
          <p:cNvPr id="6" name="Text 4"/>
          <p:cNvSpPr/>
          <p:nvPr/>
        </p:nvSpPr>
        <p:spPr>
          <a:xfrm>
            <a:off x="457200" y="1470660"/>
            <a:ext cx="8412480" cy="457200"/>
          </a:xfrm>
          <a:prstGeom prst="rect">
            <a:avLst/>
          </a:prstGeom>
          <a:noFill/>
          <a:ln/>
        </p:spPr>
        <p:txBody>
          <a:bodyPr wrap="square" rtlCol="0" anchor="ctr"/>
          <a:lstStyle/>
          <a:p>
            <a:pPr marL="0" indent="0">
              <a:buNone/>
            </a:pPr>
            <a:r>
              <a:rPr lang="en-US" sz="1400" b="1" dirty="0">
                <a:solidFill>
                  <a:srgbClr val="000000"/>
                </a:solidFill>
                <a:latin typeface="Courier New" pitchFamily="34" charset="0"/>
                <a:ea typeface="Courier New" pitchFamily="34" charset="-122"/>
                <a:cs typeface="Courier New" pitchFamily="34" charset="-120"/>
              </a:rPr>
              <a:t>In ambienti cloud, distribuiti e composti da numerosi microservizi:</a:t>
            </a:r>
            <a:endParaRPr lang="en-US" sz="1400" dirty="0"/>
          </a:p>
        </p:txBody>
      </p:sp>
      <p:sp>
        <p:nvSpPr>
          <p:cNvPr id="7" name="Shape 5"/>
          <p:cNvSpPr/>
          <p:nvPr/>
        </p:nvSpPr>
        <p:spPr>
          <a:xfrm>
            <a:off x="365760" y="1940052"/>
            <a:ext cx="8412480" cy="862584"/>
          </a:xfrm>
          <a:prstGeom prst="rect">
            <a:avLst/>
          </a:prstGeom>
          <a:solidFill>
            <a:srgbClr val="EEEEEE"/>
          </a:solidFill>
          <a:ln w="6350">
            <a:solidFill>
              <a:srgbClr val="AAAAAA"/>
            </a:solidFill>
            <a:prstDash val="solid"/>
          </a:ln>
        </p:spPr>
        <p:txBody>
          <a:bodyPr/>
          <a:lstStyle/>
          <a:p>
            <a:endParaRPr lang="it-IT"/>
          </a:p>
        </p:txBody>
      </p:sp>
      <p:sp>
        <p:nvSpPr>
          <p:cNvPr id="8" name="Text 6"/>
          <p:cNvSpPr/>
          <p:nvPr/>
        </p:nvSpPr>
        <p:spPr>
          <a:xfrm>
            <a:off x="502920" y="1985772"/>
            <a:ext cx="2743200" cy="320040"/>
          </a:xfrm>
          <a:prstGeom prst="rect">
            <a:avLst/>
          </a:prstGeom>
          <a:noFill/>
          <a:ln/>
        </p:spPr>
        <p:txBody>
          <a:bodyPr wrap="square" rtlCol="0" anchor="t"/>
          <a:lstStyle/>
          <a:p>
            <a:pPr marL="0" indent="0">
              <a:buNone/>
            </a:pPr>
            <a:r>
              <a:rPr lang="en-US" sz="1100" b="1" dirty="0">
                <a:solidFill>
                  <a:srgbClr val="000000"/>
                </a:solidFill>
                <a:latin typeface="Courier New" pitchFamily="34" charset="0"/>
                <a:ea typeface="Courier New" pitchFamily="34" charset="-122"/>
                <a:cs typeface="Courier New" pitchFamily="34" charset="-120"/>
              </a:rPr>
              <a:t>NEGOZIAZIONE CENTRALIZZATA</a:t>
            </a:r>
            <a:endParaRPr lang="en-US" sz="1100" dirty="0"/>
          </a:p>
        </p:txBody>
      </p:sp>
      <p:sp>
        <p:nvSpPr>
          <p:cNvPr id="9" name="Text 7"/>
          <p:cNvSpPr/>
          <p:nvPr/>
        </p:nvSpPr>
        <p:spPr>
          <a:xfrm>
            <a:off x="502920" y="2305812"/>
            <a:ext cx="8229600" cy="365760"/>
          </a:xfrm>
          <a:prstGeom prst="rect">
            <a:avLst/>
          </a:prstGeom>
          <a:noFill/>
          <a:ln/>
        </p:spPr>
        <p:txBody>
          <a:bodyPr wrap="square" rtlCol="0" anchor="t"/>
          <a:lstStyle/>
          <a:p>
            <a:pPr marL="0" indent="0">
              <a:buNone/>
            </a:pPr>
            <a:r>
              <a:rPr lang="en-US" sz="1200" dirty="0">
                <a:solidFill>
                  <a:srgbClr val="555555"/>
                </a:solidFill>
                <a:latin typeface="Courier New" pitchFamily="34" charset="0"/>
                <a:ea typeface="Courier New" pitchFamily="34" charset="-122"/>
                <a:cs typeface="Courier New" pitchFamily="34" charset="-120"/>
              </a:rPr>
              <a:t>La negoziazione crittografica può essere eseguita a livello di infrastruttura, senza coinvolgere direttamente le singole applicazioni.</a:t>
            </a:r>
            <a:endParaRPr lang="en-US" sz="1200" dirty="0"/>
          </a:p>
        </p:txBody>
      </p:sp>
      <p:sp>
        <p:nvSpPr>
          <p:cNvPr id="10" name="Shape 8"/>
          <p:cNvSpPr/>
          <p:nvPr/>
        </p:nvSpPr>
        <p:spPr>
          <a:xfrm>
            <a:off x="365760" y="2987040"/>
            <a:ext cx="8412480" cy="859536"/>
          </a:xfrm>
          <a:prstGeom prst="rect">
            <a:avLst/>
          </a:prstGeom>
          <a:solidFill>
            <a:srgbClr val="FFFFFF"/>
          </a:solidFill>
          <a:ln w="6350">
            <a:solidFill>
              <a:srgbClr val="AAAAAA"/>
            </a:solidFill>
            <a:prstDash val="solid"/>
          </a:ln>
        </p:spPr>
        <p:txBody>
          <a:bodyPr/>
          <a:lstStyle/>
          <a:p>
            <a:endParaRPr lang="it-IT"/>
          </a:p>
        </p:txBody>
      </p:sp>
      <p:sp>
        <p:nvSpPr>
          <p:cNvPr id="11" name="Text 9"/>
          <p:cNvSpPr/>
          <p:nvPr/>
        </p:nvSpPr>
        <p:spPr>
          <a:xfrm>
            <a:off x="502920" y="3032760"/>
            <a:ext cx="2743200" cy="320040"/>
          </a:xfrm>
          <a:prstGeom prst="rect">
            <a:avLst/>
          </a:prstGeom>
          <a:noFill/>
          <a:ln/>
        </p:spPr>
        <p:txBody>
          <a:bodyPr wrap="square" rtlCol="0" anchor="t"/>
          <a:lstStyle/>
          <a:p>
            <a:pPr marL="0" indent="0">
              <a:buNone/>
            </a:pPr>
            <a:r>
              <a:rPr lang="en-US" sz="1100" b="1" dirty="0">
                <a:solidFill>
                  <a:srgbClr val="000000"/>
                </a:solidFill>
                <a:latin typeface="Courier New" pitchFamily="34" charset="0"/>
                <a:ea typeface="Courier New" pitchFamily="34" charset="-122"/>
                <a:cs typeface="Courier New" pitchFamily="34" charset="-120"/>
              </a:rPr>
              <a:t>DISACCOPPIAMENTO APPLICAZIONI</a:t>
            </a:r>
            <a:endParaRPr lang="en-US" sz="1100" dirty="0"/>
          </a:p>
        </p:txBody>
      </p:sp>
      <p:sp>
        <p:nvSpPr>
          <p:cNvPr id="12" name="Text 10"/>
          <p:cNvSpPr/>
          <p:nvPr/>
        </p:nvSpPr>
        <p:spPr>
          <a:xfrm>
            <a:off x="502920" y="3352800"/>
            <a:ext cx="8229600" cy="365760"/>
          </a:xfrm>
          <a:prstGeom prst="rect">
            <a:avLst/>
          </a:prstGeom>
          <a:noFill/>
          <a:ln/>
        </p:spPr>
        <p:txBody>
          <a:bodyPr wrap="square" rtlCol="0" anchor="t"/>
          <a:lstStyle/>
          <a:p>
            <a:pPr marL="0" indent="0">
              <a:buNone/>
            </a:pPr>
            <a:r>
              <a:rPr lang="en-US" sz="1200" dirty="0">
                <a:solidFill>
                  <a:srgbClr val="555555"/>
                </a:solidFill>
                <a:latin typeface="Courier New" pitchFamily="34" charset="0"/>
                <a:ea typeface="Courier New" pitchFamily="34" charset="-122"/>
                <a:cs typeface="Courier New" pitchFamily="34" charset="-120"/>
              </a:rPr>
              <a:t>Le applicazioni vengono ulteriormente disaccoppiate dalla crittografia — principio chiave per la scalabilità.</a:t>
            </a:r>
            <a:endParaRPr lang="en-US" sz="1200" dirty="0"/>
          </a:p>
        </p:txBody>
      </p:sp>
      <p:sp>
        <p:nvSpPr>
          <p:cNvPr id="13" name="Shape 11"/>
          <p:cNvSpPr/>
          <p:nvPr/>
        </p:nvSpPr>
        <p:spPr>
          <a:xfrm>
            <a:off x="365760" y="4029456"/>
            <a:ext cx="8412480" cy="859536"/>
          </a:xfrm>
          <a:prstGeom prst="rect">
            <a:avLst/>
          </a:prstGeom>
          <a:solidFill>
            <a:srgbClr val="EEEEEE"/>
          </a:solidFill>
          <a:ln w="6350">
            <a:solidFill>
              <a:srgbClr val="AAAAAA"/>
            </a:solidFill>
            <a:prstDash val="solid"/>
          </a:ln>
        </p:spPr>
        <p:txBody>
          <a:bodyPr/>
          <a:lstStyle/>
          <a:p>
            <a:endParaRPr lang="it-IT"/>
          </a:p>
        </p:txBody>
      </p:sp>
      <p:sp>
        <p:nvSpPr>
          <p:cNvPr id="14" name="Text 12"/>
          <p:cNvSpPr/>
          <p:nvPr/>
        </p:nvSpPr>
        <p:spPr>
          <a:xfrm>
            <a:off x="502920" y="4075176"/>
            <a:ext cx="2743200" cy="320040"/>
          </a:xfrm>
          <a:prstGeom prst="rect">
            <a:avLst/>
          </a:prstGeom>
          <a:noFill/>
          <a:ln/>
        </p:spPr>
        <p:txBody>
          <a:bodyPr wrap="square" rtlCol="0" anchor="t"/>
          <a:lstStyle/>
          <a:p>
            <a:pPr marL="0" indent="0">
              <a:buNone/>
            </a:pPr>
            <a:r>
              <a:rPr lang="en-US" sz="1100" b="1" dirty="0">
                <a:solidFill>
                  <a:srgbClr val="000000"/>
                </a:solidFill>
                <a:latin typeface="Courier New" pitchFamily="34" charset="0"/>
                <a:ea typeface="Courier New" pitchFamily="34" charset="-122"/>
                <a:cs typeface="Courier New" pitchFamily="34" charset="-120"/>
              </a:rPr>
              <a:t>AGGIORNAMENTI TRASPARENTI</a:t>
            </a:r>
            <a:endParaRPr lang="en-US" sz="1100" dirty="0"/>
          </a:p>
        </p:txBody>
      </p:sp>
      <p:sp>
        <p:nvSpPr>
          <p:cNvPr id="15" name="Text 13"/>
          <p:cNvSpPr/>
          <p:nvPr/>
        </p:nvSpPr>
        <p:spPr>
          <a:xfrm>
            <a:off x="502920" y="4395216"/>
            <a:ext cx="8229600" cy="365760"/>
          </a:xfrm>
          <a:prstGeom prst="rect">
            <a:avLst/>
          </a:prstGeom>
          <a:noFill/>
          <a:ln/>
        </p:spPr>
        <p:txBody>
          <a:bodyPr wrap="square" rtlCol="0" anchor="t"/>
          <a:lstStyle/>
          <a:p>
            <a:pPr marL="0" indent="0">
              <a:buNone/>
            </a:pPr>
            <a:r>
              <a:rPr lang="en-US" sz="1200" dirty="0">
                <a:solidFill>
                  <a:srgbClr val="555555"/>
                </a:solidFill>
                <a:latin typeface="Courier New" pitchFamily="34" charset="0"/>
                <a:ea typeface="Courier New" pitchFamily="34" charset="-122"/>
                <a:cs typeface="Courier New" pitchFamily="34" charset="-120"/>
              </a:rPr>
              <a:t>Gli algoritmi possono essere aggiornati a livello infrastrutturale senza modificare il codice applicativo dei singoli servizi.</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365760" y="457200"/>
            <a:ext cx="64008" cy="822960"/>
          </a:xfrm>
          <a:prstGeom prst="rect">
            <a:avLst/>
          </a:prstGeom>
          <a:solidFill>
            <a:srgbClr val="FFFFFF"/>
          </a:solidFill>
          <a:ln w="12700">
            <a:solidFill>
              <a:srgbClr val="FFFFFF"/>
            </a:solidFill>
            <a:prstDash val="solid"/>
          </a:ln>
        </p:spPr>
        <p:txBody>
          <a:bodyPr/>
          <a:lstStyle/>
          <a:p>
            <a:endParaRPr lang="it-IT"/>
          </a:p>
        </p:txBody>
      </p:sp>
      <p:sp>
        <p:nvSpPr>
          <p:cNvPr id="3" name="Text 1"/>
          <p:cNvSpPr/>
          <p:nvPr/>
        </p:nvSpPr>
        <p:spPr>
          <a:xfrm>
            <a:off x="548640" y="457200"/>
            <a:ext cx="8229600" cy="822960"/>
          </a:xfrm>
          <a:prstGeom prst="rect">
            <a:avLst/>
          </a:prstGeom>
          <a:noFill/>
          <a:ln/>
        </p:spPr>
        <p:txBody>
          <a:bodyPr wrap="square" lIns="0" tIns="0" rIns="0" bIns="0" rtlCol="0" anchor="ctr"/>
          <a:lstStyle/>
          <a:p>
            <a:pPr marL="0" indent="0">
              <a:buNone/>
            </a:pPr>
            <a:r>
              <a:rPr lang="en-US" sz="3200" b="1" dirty="0">
                <a:solidFill>
                  <a:srgbClr val="FFFFFF"/>
                </a:solidFill>
                <a:latin typeface="Courier New" pitchFamily="34" charset="0"/>
                <a:ea typeface="Courier New" pitchFamily="34" charset="-122"/>
                <a:cs typeface="Courier New" pitchFamily="34" charset="-120"/>
              </a:rPr>
              <a:t>VINCOLI HARDWARE</a:t>
            </a:r>
            <a:endParaRPr lang="en-US" sz="3200" dirty="0"/>
          </a:p>
        </p:txBody>
      </p:sp>
      <p:sp>
        <p:nvSpPr>
          <p:cNvPr id="4" name="Shape 2"/>
          <p:cNvSpPr/>
          <p:nvPr/>
        </p:nvSpPr>
        <p:spPr>
          <a:xfrm>
            <a:off x="365760" y="1417320"/>
            <a:ext cx="8412480" cy="22860"/>
          </a:xfrm>
          <a:prstGeom prst="rect">
            <a:avLst/>
          </a:prstGeom>
          <a:solidFill>
            <a:srgbClr val="FFFFFF"/>
          </a:solidFill>
          <a:ln w="12700">
            <a:solidFill>
              <a:srgbClr val="FFFFFF"/>
            </a:solidFill>
            <a:prstDash val="solid"/>
          </a:ln>
        </p:spPr>
        <p:txBody>
          <a:bodyPr/>
          <a:lstStyle/>
          <a:p>
            <a:endParaRPr lang="it-IT"/>
          </a:p>
        </p:txBody>
      </p:sp>
      <p:sp>
        <p:nvSpPr>
          <p:cNvPr id="5" name="Text 3"/>
          <p:cNvSpPr/>
          <p:nvPr/>
        </p:nvSpPr>
        <p:spPr>
          <a:xfrm>
            <a:off x="365760" y="1508760"/>
            <a:ext cx="3657600" cy="320040"/>
          </a:xfrm>
          <a:prstGeom prst="rect">
            <a:avLst/>
          </a:prstGeom>
          <a:noFill/>
          <a:ln/>
        </p:spPr>
        <p:txBody>
          <a:bodyPr wrap="square" rtlCol="0" anchor="ctr"/>
          <a:lstStyle/>
          <a:p>
            <a:pPr marL="0" indent="0">
              <a:buNone/>
            </a:pPr>
            <a:r>
              <a:rPr lang="en-US" sz="1000" i="1" dirty="0">
                <a:solidFill>
                  <a:srgbClr val="555555"/>
                </a:solidFill>
                <a:latin typeface="Courier New" pitchFamily="34" charset="0"/>
                <a:ea typeface="Courier New" pitchFamily="34" charset="-122"/>
                <a:cs typeface="Courier New" pitchFamily="34" charset="-120"/>
              </a:rPr>
              <a:t>Sezione 6 — pag. 32</a:t>
            </a:r>
            <a:endParaRPr lang="en-US" sz="1000" dirty="0"/>
          </a:p>
        </p:txBody>
      </p:sp>
      <p:sp>
        <p:nvSpPr>
          <p:cNvPr id="6" name="Shape 4"/>
          <p:cNvSpPr/>
          <p:nvPr/>
        </p:nvSpPr>
        <p:spPr>
          <a:xfrm>
            <a:off x="1280159" y="1817370"/>
            <a:ext cx="2651760" cy="2446020"/>
          </a:xfrm>
          <a:prstGeom prst="rect">
            <a:avLst/>
          </a:prstGeom>
          <a:solidFill>
            <a:srgbClr val="111111"/>
          </a:solidFill>
          <a:ln w="12700">
            <a:solidFill>
              <a:srgbClr val="AAAAAA"/>
            </a:solidFill>
            <a:prstDash val="solid"/>
          </a:ln>
        </p:spPr>
        <p:txBody>
          <a:bodyPr/>
          <a:lstStyle/>
          <a:p>
            <a:endParaRPr lang="it-IT"/>
          </a:p>
        </p:txBody>
      </p:sp>
      <p:sp>
        <p:nvSpPr>
          <p:cNvPr id="7" name="Text 5"/>
          <p:cNvSpPr/>
          <p:nvPr/>
        </p:nvSpPr>
        <p:spPr>
          <a:xfrm>
            <a:off x="1371599" y="1908810"/>
            <a:ext cx="2468880" cy="731520"/>
          </a:xfrm>
          <a:prstGeom prst="rect">
            <a:avLst/>
          </a:prstGeom>
          <a:noFill/>
          <a:ln/>
        </p:spPr>
        <p:txBody>
          <a:bodyPr wrap="square"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CHIP /</a:t>
            </a:r>
            <a:endParaRPr lang="en-US" sz="1500" dirty="0"/>
          </a:p>
          <a:p>
            <a:pPr marL="0" indent="0" algn="ctr">
              <a:buNone/>
            </a:pPr>
            <a:r>
              <a:rPr lang="en-US" sz="1500" b="1" dirty="0">
                <a:solidFill>
                  <a:srgbClr val="FFFFFF"/>
                </a:solidFill>
                <a:latin typeface="Courier New" pitchFamily="34" charset="0"/>
                <a:ea typeface="Courier New" pitchFamily="34" charset="-122"/>
                <a:cs typeface="Courier New" pitchFamily="34" charset="-120"/>
              </a:rPr>
              <a:t>TPM</a:t>
            </a:r>
            <a:endParaRPr lang="en-US" sz="1500" dirty="0"/>
          </a:p>
        </p:txBody>
      </p:sp>
      <p:sp>
        <p:nvSpPr>
          <p:cNvPr id="8" name="Shape 6"/>
          <p:cNvSpPr/>
          <p:nvPr/>
        </p:nvSpPr>
        <p:spPr>
          <a:xfrm>
            <a:off x="1554479" y="2731770"/>
            <a:ext cx="2103120" cy="347472"/>
          </a:xfrm>
          <a:prstGeom prst="rect">
            <a:avLst/>
          </a:prstGeom>
          <a:solidFill>
            <a:srgbClr val="444444"/>
          </a:solidFill>
          <a:ln w="12700">
            <a:solidFill>
              <a:srgbClr val="444444"/>
            </a:solidFill>
            <a:prstDash val="solid"/>
          </a:ln>
        </p:spPr>
        <p:txBody>
          <a:bodyPr/>
          <a:lstStyle/>
          <a:p>
            <a:endParaRPr lang="it-IT"/>
          </a:p>
        </p:txBody>
      </p:sp>
      <p:sp>
        <p:nvSpPr>
          <p:cNvPr id="9" name="Text 7"/>
          <p:cNvSpPr/>
          <p:nvPr/>
        </p:nvSpPr>
        <p:spPr>
          <a:xfrm>
            <a:off x="1554479" y="2731770"/>
            <a:ext cx="2103120" cy="347472"/>
          </a:xfrm>
          <a:prstGeom prst="rect">
            <a:avLst/>
          </a:prstGeom>
          <a:noFill/>
          <a:ln/>
        </p:spPr>
        <p:txBody>
          <a:bodyPr wrap="square" lIns="0" tIns="0" rIns="0" bIns="0" rtlCol="0" anchor="ctr"/>
          <a:lstStyle/>
          <a:p>
            <a:pPr marL="0" indent="0" algn="ctr">
              <a:buNone/>
            </a:pPr>
            <a:r>
              <a:rPr lang="en-US" sz="1100" b="1" dirty="0">
                <a:solidFill>
                  <a:srgbClr val="000000"/>
                </a:solidFill>
                <a:latin typeface="Courier New" pitchFamily="34" charset="0"/>
                <a:ea typeface="Courier New" pitchFamily="34" charset="-122"/>
                <a:cs typeface="Courier New" pitchFamily="34" charset="-120"/>
              </a:rPr>
              <a:t>NESSUNA</a:t>
            </a:r>
            <a:endParaRPr lang="en-US" sz="1100" dirty="0"/>
          </a:p>
        </p:txBody>
      </p:sp>
      <p:sp>
        <p:nvSpPr>
          <p:cNvPr id="10" name="Text 8"/>
          <p:cNvSpPr/>
          <p:nvPr/>
        </p:nvSpPr>
        <p:spPr>
          <a:xfrm>
            <a:off x="1371599" y="3188970"/>
            <a:ext cx="2468880" cy="1371600"/>
          </a:xfrm>
          <a:prstGeom prst="rect">
            <a:avLst/>
          </a:prstGeom>
          <a:noFill/>
          <a:ln/>
        </p:spPr>
        <p:txBody>
          <a:bodyPr wrap="square" rtlCol="0" anchor="t"/>
          <a:lstStyle/>
          <a:p>
            <a:pPr marL="0" indent="0" algn="l">
              <a:buNone/>
            </a:pPr>
            <a:r>
              <a:rPr lang="en-US" sz="1100" dirty="0">
                <a:solidFill>
                  <a:srgbClr val="AAAAAA"/>
                </a:solidFill>
                <a:latin typeface="Courier New" pitchFamily="34" charset="0"/>
                <a:ea typeface="Courier New" pitchFamily="34" charset="-122"/>
                <a:cs typeface="Courier New" pitchFamily="34" charset="-120"/>
              </a:rPr>
              <a:t>Non permettono alcun grado di agilità. Richiedono sostituzione fisica in caso di aggiornamento degli algoritmi.</a:t>
            </a:r>
            <a:endParaRPr lang="en-US" sz="1100" dirty="0"/>
          </a:p>
        </p:txBody>
      </p:sp>
      <p:sp>
        <p:nvSpPr>
          <p:cNvPr id="11" name="Shape 9"/>
          <p:cNvSpPr/>
          <p:nvPr/>
        </p:nvSpPr>
        <p:spPr>
          <a:xfrm>
            <a:off x="5120642" y="1817370"/>
            <a:ext cx="2651760" cy="2446020"/>
          </a:xfrm>
          <a:prstGeom prst="rect">
            <a:avLst/>
          </a:prstGeom>
          <a:solidFill>
            <a:srgbClr val="111111"/>
          </a:solidFill>
          <a:ln w="12700">
            <a:solidFill>
              <a:srgbClr val="AAAAAA"/>
            </a:solidFill>
            <a:prstDash val="solid"/>
          </a:ln>
        </p:spPr>
        <p:txBody>
          <a:bodyPr/>
          <a:lstStyle/>
          <a:p>
            <a:endParaRPr lang="it-IT"/>
          </a:p>
        </p:txBody>
      </p:sp>
      <p:sp>
        <p:nvSpPr>
          <p:cNvPr id="12" name="Text 10"/>
          <p:cNvSpPr/>
          <p:nvPr/>
        </p:nvSpPr>
        <p:spPr>
          <a:xfrm>
            <a:off x="5212082" y="1908810"/>
            <a:ext cx="2468880" cy="731520"/>
          </a:xfrm>
          <a:prstGeom prst="rect">
            <a:avLst/>
          </a:prstGeom>
          <a:noFill/>
          <a:ln/>
        </p:spPr>
        <p:txBody>
          <a:bodyPr wrap="square"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FPGA</a:t>
            </a:r>
            <a:endParaRPr lang="en-US" sz="1500" dirty="0"/>
          </a:p>
        </p:txBody>
      </p:sp>
      <p:sp>
        <p:nvSpPr>
          <p:cNvPr id="13" name="Shape 11"/>
          <p:cNvSpPr/>
          <p:nvPr/>
        </p:nvSpPr>
        <p:spPr>
          <a:xfrm>
            <a:off x="5394962" y="2731770"/>
            <a:ext cx="2103120" cy="347472"/>
          </a:xfrm>
          <a:prstGeom prst="rect">
            <a:avLst/>
          </a:prstGeom>
          <a:solidFill>
            <a:srgbClr val="CCCCCC"/>
          </a:solidFill>
          <a:ln w="12700">
            <a:solidFill>
              <a:srgbClr val="CCCCCC"/>
            </a:solidFill>
            <a:prstDash val="solid"/>
          </a:ln>
        </p:spPr>
        <p:txBody>
          <a:bodyPr/>
          <a:lstStyle/>
          <a:p>
            <a:endParaRPr lang="it-IT"/>
          </a:p>
        </p:txBody>
      </p:sp>
      <p:sp>
        <p:nvSpPr>
          <p:cNvPr id="14" name="Text 12"/>
          <p:cNvSpPr/>
          <p:nvPr/>
        </p:nvSpPr>
        <p:spPr>
          <a:xfrm>
            <a:off x="5394962" y="2731770"/>
            <a:ext cx="2103120" cy="347472"/>
          </a:xfrm>
          <a:prstGeom prst="rect">
            <a:avLst/>
          </a:prstGeom>
          <a:noFill/>
          <a:ln/>
        </p:spPr>
        <p:txBody>
          <a:bodyPr wrap="square" lIns="0" tIns="0" rIns="0" bIns="0" rtlCol="0" anchor="ctr"/>
          <a:lstStyle/>
          <a:p>
            <a:pPr marL="0" indent="0" algn="ctr">
              <a:buNone/>
            </a:pPr>
            <a:r>
              <a:rPr lang="en-US" sz="1100" b="1" dirty="0">
                <a:solidFill>
                  <a:srgbClr val="000000"/>
                </a:solidFill>
                <a:latin typeface="Courier New" pitchFamily="34" charset="0"/>
                <a:ea typeface="Courier New" pitchFamily="34" charset="-122"/>
                <a:cs typeface="Courier New" pitchFamily="34" charset="-120"/>
              </a:rPr>
              <a:t>ALTA</a:t>
            </a:r>
            <a:endParaRPr lang="en-US" sz="1100" dirty="0"/>
          </a:p>
        </p:txBody>
      </p:sp>
      <p:sp>
        <p:nvSpPr>
          <p:cNvPr id="15" name="Text 13"/>
          <p:cNvSpPr/>
          <p:nvPr/>
        </p:nvSpPr>
        <p:spPr>
          <a:xfrm>
            <a:off x="5212082" y="3188970"/>
            <a:ext cx="2468880" cy="1371600"/>
          </a:xfrm>
          <a:prstGeom prst="rect">
            <a:avLst/>
          </a:prstGeom>
          <a:noFill/>
          <a:ln/>
        </p:spPr>
        <p:txBody>
          <a:bodyPr wrap="square" rtlCol="0" anchor="t"/>
          <a:lstStyle/>
          <a:p>
            <a:pPr marL="0" indent="0" algn="l">
              <a:buNone/>
            </a:pPr>
            <a:r>
              <a:rPr lang="en-US" sz="1100" dirty="0">
                <a:solidFill>
                  <a:srgbClr val="AAAAAA"/>
                </a:solidFill>
                <a:latin typeface="Courier New" pitchFamily="34" charset="0"/>
                <a:ea typeface="Courier New" pitchFamily="34" charset="-122"/>
                <a:cs typeface="Courier New" pitchFamily="34" charset="-120"/>
              </a:rPr>
              <a:t>La natura riconfigurabile delle FPGA consente l'aggiornamento degli algoritmi senza sostituire l'hardware.</a:t>
            </a:r>
            <a:endParaRPr lang="en-US" sz="1100" dirty="0"/>
          </a:p>
        </p:txBody>
      </p:sp>
      <p:sp>
        <p:nvSpPr>
          <p:cNvPr id="21" name="Text 19"/>
          <p:cNvSpPr/>
          <p:nvPr/>
        </p:nvSpPr>
        <p:spPr>
          <a:xfrm>
            <a:off x="365760" y="4457700"/>
            <a:ext cx="8412480" cy="571500"/>
          </a:xfrm>
          <a:prstGeom prst="rect">
            <a:avLst/>
          </a:prstGeom>
          <a:noFill/>
          <a:ln/>
        </p:spPr>
        <p:txBody>
          <a:bodyPr wrap="square" rtlCol="0" anchor="ctr"/>
          <a:lstStyle/>
          <a:p>
            <a:pPr marL="0" indent="0" algn="ctr">
              <a:buNone/>
            </a:pPr>
            <a:r>
              <a:rPr lang="en-US" sz="1300" i="1" dirty="0">
                <a:solidFill>
                  <a:srgbClr val="555555"/>
                </a:solidFill>
                <a:latin typeface="Courier New" pitchFamily="34" charset="0"/>
                <a:ea typeface="Courier New" pitchFamily="34" charset="-122"/>
                <a:cs typeface="Courier New" pitchFamily="34" charset="-120"/>
              </a:rPr>
              <a:t>L'immutabilità dell'hardware garantisce resistenza agli attacchi, ma complica le transizioni tra algoritmi.</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57200"/>
            <a:ext cx="64008" cy="822960"/>
          </a:xfrm>
          <a:prstGeom prst="rect">
            <a:avLst/>
          </a:prstGeom>
          <a:solidFill>
            <a:srgbClr val="000000"/>
          </a:solidFill>
          <a:ln w="12700">
            <a:solidFill>
              <a:srgbClr val="000000"/>
            </a:solidFill>
            <a:prstDash val="solid"/>
          </a:ln>
        </p:spPr>
        <p:txBody>
          <a:bodyPr/>
          <a:lstStyle/>
          <a:p>
            <a:endParaRPr lang="it-IT"/>
          </a:p>
        </p:txBody>
      </p:sp>
      <p:sp>
        <p:nvSpPr>
          <p:cNvPr id="3" name="Text 1"/>
          <p:cNvSpPr/>
          <p:nvPr/>
        </p:nvSpPr>
        <p:spPr>
          <a:xfrm>
            <a:off x="548640" y="457200"/>
            <a:ext cx="8229600" cy="822960"/>
          </a:xfrm>
          <a:prstGeom prst="rect">
            <a:avLst/>
          </a:prstGeom>
          <a:noFill/>
          <a:ln/>
        </p:spPr>
        <p:txBody>
          <a:bodyPr wrap="square" lIns="0" tIns="0" rIns="0" bIns="0" rtlCol="0" anchor="ctr"/>
          <a:lstStyle/>
          <a:p>
            <a:pPr marL="0" indent="0">
              <a:buNone/>
            </a:pPr>
            <a:r>
              <a:rPr lang="en-US" sz="2800" b="1" dirty="0">
                <a:solidFill>
                  <a:srgbClr val="000000"/>
                </a:solidFill>
                <a:latin typeface="Courier New" pitchFamily="34" charset="0"/>
                <a:ea typeface="Courier New" pitchFamily="34" charset="-122"/>
                <a:cs typeface="Courier New" pitchFamily="34" charset="-120"/>
              </a:rPr>
              <a:t>LA SFIDA PRINCIPALE</a:t>
            </a:r>
            <a:endParaRPr lang="en-US" sz="2800" dirty="0"/>
          </a:p>
        </p:txBody>
      </p:sp>
      <p:sp>
        <p:nvSpPr>
          <p:cNvPr id="4" name="Shape 2"/>
          <p:cNvSpPr/>
          <p:nvPr/>
        </p:nvSpPr>
        <p:spPr>
          <a:xfrm>
            <a:off x="365760" y="1417320"/>
            <a:ext cx="8412480" cy="22860"/>
          </a:xfrm>
          <a:prstGeom prst="rect">
            <a:avLst/>
          </a:prstGeom>
          <a:solidFill>
            <a:srgbClr val="000000"/>
          </a:solidFill>
          <a:ln w="12700">
            <a:solidFill>
              <a:srgbClr val="000000"/>
            </a:solidFill>
            <a:prstDash val="solid"/>
          </a:ln>
        </p:spPr>
        <p:txBody>
          <a:bodyPr/>
          <a:lstStyle/>
          <a:p>
            <a:endParaRPr lang="it-IT"/>
          </a:p>
        </p:txBody>
      </p:sp>
      <p:sp>
        <p:nvSpPr>
          <p:cNvPr id="5" name="Shape 3"/>
          <p:cNvSpPr/>
          <p:nvPr/>
        </p:nvSpPr>
        <p:spPr>
          <a:xfrm>
            <a:off x="365760" y="1600200"/>
            <a:ext cx="8412480" cy="571500"/>
          </a:xfrm>
          <a:prstGeom prst="rect">
            <a:avLst/>
          </a:prstGeom>
          <a:solidFill>
            <a:srgbClr val="000000"/>
          </a:solidFill>
          <a:ln w="12700">
            <a:solidFill>
              <a:srgbClr val="000000"/>
            </a:solidFill>
            <a:prstDash val="solid"/>
          </a:ln>
        </p:spPr>
        <p:txBody>
          <a:bodyPr/>
          <a:lstStyle/>
          <a:p>
            <a:endParaRPr lang="it-IT"/>
          </a:p>
        </p:txBody>
      </p:sp>
      <p:sp>
        <p:nvSpPr>
          <p:cNvPr id="6" name="Text 4"/>
          <p:cNvSpPr/>
          <p:nvPr/>
        </p:nvSpPr>
        <p:spPr>
          <a:xfrm>
            <a:off x="502920" y="1664208"/>
            <a:ext cx="8229600" cy="416052"/>
          </a:xfrm>
          <a:prstGeom prst="rect">
            <a:avLst/>
          </a:prstGeom>
          <a:noFill/>
          <a:ln/>
        </p:spPr>
        <p:txBody>
          <a:bodyPr wrap="square"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I VINCOLI HARDWARE sono la più grande sfida alla crypto-agility.</a:t>
            </a:r>
            <a:endParaRPr lang="en-US" sz="1400" dirty="0"/>
          </a:p>
        </p:txBody>
      </p:sp>
      <p:sp>
        <p:nvSpPr>
          <p:cNvPr id="7" name="Shape 5"/>
          <p:cNvSpPr/>
          <p:nvPr/>
        </p:nvSpPr>
        <p:spPr>
          <a:xfrm>
            <a:off x="365760" y="2331720"/>
            <a:ext cx="4114800" cy="1074420"/>
          </a:xfrm>
          <a:prstGeom prst="rect">
            <a:avLst/>
          </a:prstGeom>
          <a:solidFill>
            <a:srgbClr val="EEEEEE"/>
          </a:solidFill>
          <a:ln w="6350">
            <a:solidFill>
              <a:srgbClr val="AAAAAA"/>
            </a:solidFill>
            <a:prstDash val="solid"/>
          </a:ln>
        </p:spPr>
        <p:txBody>
          <a:bodyPr/>
          <a:lstStyle/>
          <a:p>
            <a:endParaRPr lang="it-IT" sz="1300"/>
          </a:p>
        </p:txBody>
      </p:sp>
      <p:sp>
        <p:nvSpPr>
          <p:cNvPr id="8" name="Text 6"/>
          <p:cNvSpPr/>
          <p:nvPr/>
        </p:nvSpPr>
        <p:spPr>
          <a:xfrm>
            <a:off x="457200" y="2377440"/>
            <a:ext cx="3931920" cy="274320"/>
          </a:xfrm>
          <a:prstGeom prst="rect">
            <a:avLst/>
          </a:prstGeom>
          <a:noFill/>
          <a:ln/>
        </p:spPr>
        <p:txBody>
          <a:bodyPr wrap="square" lIns="0" tIns="0" rIns="0" bIns="0" rtlCol="0" anchor="t"/>
          <a:lstStyle/>
          <a:p>
            <a:pPr marL="0" indent="0">
              <a:buNone/>
            </a:pPr>
            <a:r>
              <a:rPr lang="en-US" sz="1300" b="1" dirty="0">
                <a:solidFill>
                  <a:srgbClr val="000000"/>
                </a:solidFill>
                <a:latin typeface="Courier New" pitchFamily="34" charset="0"/>
                <a:ea typeface="Courier New" pitchFamily="34" charset="-122"/>
                <a:cs typeface="Courier New" pitchFamily="34" charset="-120"/>
              </a:rPr>
              <a:t>RISORSE LIMITATE</a:t>
            </a:r>
            <a:endParaRPr lang="en-US" sz="1300" dirty="0"/>
          </a:p>
        </p:txBody>
      </p:sp>
      <p:sp>
        <p:nvSpPr>
          <p:cNvPr id="9" name="Text 7"/>
          <p:cNvSpPr/>
          <p:nvPr/>
        </p:nvSpPr>
        <p:spPr>
          <a:xfrm>
            <a:off x="457200" y="2651760"/>
            <a:ext cx="3931920" cy="822960"/>
          </a:xfrm>
          <a:prstGeom prst="rect">
            <a:avLst/>
          </a:prstGeom>
          <a:noFill/>
          <a:ln/>
        </p:spPr>
        <p:txBody>
          <a:bodyPr wrap="square" lIns="0" tIns="0" rIns="0" bIns="0" rtlCol="0" anchor="t"/>
          <a:lstStyle/>
          <a:p>
            <a:pPr marL="0" indent="0">
              <a:buNone/>
            </a:pPr>
            <a:r>
              <a:rPr lang="en-US" sz="1300" dirty="0">
                <a:solidFill>
                  <a:srgbClr val="555555"/>
                </a:solidFill>
                <a:latin typeface="Courier New" pitchFamily="34" charset="0"/>
                <a:ea typeface="Courier New" pitchFamily="34" charset="-122"/>
                <a:cs typeface="Courier New" pitchFamily="34" charset="-120"/>
              </a:rPr>
              <a:t>Non sempre è possibile implementare molti algoritmi su una singola piattaforma hardware.</a:t>
            </a:r>
            <a:endParaRPr lang="en-US" sz="1300" dirty="0"/>
          </a:p>
        </p:txBody>
      </p:sp>
      <p:sp>
        <p:nvSpPr>
          <p:cNvPr id="10" name="Shape 8"/>
          <p:cNvSpPr/>
          <p:nvPr/>
        </p:nvSpPr>
        <p:spPr>
          <a:xfrm>
            <a:off x="4663440" y="2331720"/>
            <a:ext cx="4114800" cy="1074420"/>
          </a:xfrm>
          <a:prstGeom prst="rect">
            <a:avLst/>
          </a:prstGeom>
          <a:solidFill>
            <a:srgbClr val="EEEEEE"/>
          </a:solidFill>
          <a:ln w="6350">
            <a:solidFill>
              <a:srgbClr val="AAAAAA"/>
            </a:solidFill>
            <a:prstDash val="solid"/>
          </a:ln>
        </p:spPr>
        <p:txBody>
          <a:bodyPr/>
          <a:lstStyle/>
          <a:p>
            <a:endParaRPr lang="it-IT" sz="1300"/>
          </a:p>
        </p:txBody>
      </p:sp>
      <p:sp>
        <p:nvSpPr>
          <p:cNvPr id="11" name="Text 9"/>
          <p:cNvSpPr/>
          <p:nvPr/>
        </p:nvSpPr>
        <p:spPr>
          <a:xfrm>
            <a:off x="4754880" y="2377440"/>
            <a:ext cx="3931920" cy="274320"/>
          </a:xfrm>
          <a:prstGeom prst="rect">
            <a:avLst/>
          </a:prstGeom>
          <a:noFill/>
          <a:ln/>
        </p:spPr>
        <p:txBody>
          <a:bodyPr wrap="square" lIns="0" tIns="0" rIns="0" bIns="0" rtlCol="0" anchor="t"/>
          <a:lstStyle/>
          <a:p>
            <a:pPr marL="0" indent="0">
              <a:buNone/>
            </a:pPr>
            <a:r>
              <a:rPr lang="en-US" sz="1300" b="1" dirty="0">
                <a:solidFill>
                  <a:srgbClr val="000000"/>
                </a:solidFill>
                <a:latin typeface="Courier New" pitchFamily="34" charset="0"/>
                <a:ea typeface="Courier New" pitchFamily="34" charset="-122"/>
                <a:cs typeface="Courier New" pitchFamily="34" charset="-120"/>
              </a:rPr>
              <a:t>RIUSO DEGLI ACCELERATORI</a:t>
            </a:r>
            <a:endParaRPr lang="en-US" sz="1300" dirty="0"/>
          </a:p>
        </p:txBody>
      </p:sp>
      <p:sp>
        <p:nvSpPr>
          <p:cNvPr id="12" name="Text 10"/>
          <p:cNvSpPr/>
          <p:nvPr/>
        </p:nvSpPr>
        <p:spPr>
          <a:xfrm>
            <a:off x="4754880" y="2651760"/>
            <a:ext cx="3931920" cy="530352"/>
          </a:xfrm>
          <a:prstGeom prst="rect">
            <a:avLst/>
          </a:prstGeom>
          <a:noFill/>
          <a:ln/>
        </p:spPr>
        <p:txBody>
          <a:bodyPr wrap="square" lIns="0" tIns="0" rIns="0" bIns="0" rtlCol="0" anchor="t"/>
          <a:lstStyle/>
          <a:p>
            <a:pPr marL="0" indent="0">
              <a:buNone/>
            </a:pPr>
            <a:r>
              <a:rPr lang="en-US" sz="1300" dirty="0">
                <a:solidFill>
                  <a:srgbClr val="555555"/>
                </a:solidFill>
                <a:latin typeface="Courier New" pitchFamily="34" charset="0"/>
                <a:ea typeface="Courier New" pitchFamily="34" charset="-122"/>
                <a:cs typeface="Courier New" pitchFamily="34" charset="-120"/>
              </a:rPr>
              <a:t>Ottimizzazioni come il riuso di </a:t>
            </a:r>
            <a:r>
              <a:rPr lang="en-US" sz="1300" dirty="0" err="1">
                <a:solidFill>
                  <a:srgbClr val="555555"/>
                </a:solidFill>
                <a:latin typeface="Courier New" pitchFamily="34" charset="0"/>
                <a:ea typeface="Courier New" pitchFamily="34" charset="-122"/>
                <a:cs typeface="Courier New" pitchFamily="34" charset="-120"/>
              </a:rPr>
              <a:t>acceleratori</a:t>
            </a:r>
            <a:r>
              <a:rPr lang="en-US" sz="1300" dirty="0">
                <a:solidFill>
                  <a:srgbClr val="555555"/>
                </a:solidFill>
                <a:latin typeface="Courier New" pitchFamily="34" charset="0"/>
                <a:ea typeface="Courier New" pitchFamily="34" charset="-122"/>
                <a:cs typeface="Courier New" pitchFamily="34" charset="-120"/>
              </a:rPr>
              <a:t> </a:t>
            </a:r>
            <a:r>
              <a:rPr lang="en-US" sz="1300" dirty="0" err="1">
                <a:solidFill>
                  <a:srgbClr val="555555"/>
                </a:solidFill>
                <a:latin typeface="Courier New" pitchFamily="34" charset="0"/>
                <a:ea typeface="Courier New" pitchFamily="34" charset="-122"/>
                <a:cs typeface="Courier New" pitchFamily="34" charset="-120"/>
              </a:rPr>
              <a:t>sono</a:t>
            </a:r>
            <a:r>
              <a:rPr lang="en-US" sz="1300" dirty="0">
                <a:solidFill>
                  <a:srgbClr val="555555"/>
                </a:solidFill>
                <a:latin typeface="Courier New" pitchFamily="34" charset="0"/>
                <a:ea typeface="Courier New" pitchFamily="34" charset="-122"/>
                <a:cs typeface="Courier New" pitchFamily="34" charset="-120"/>
              </a:rPr>
              <a:t> un area di ricercar </a:t>
            </a:r>
            <a:r>
              <a:rPr lang="en-US" sz="1300" dirty="0" err="1">
                <a:solidFill>
                  <a:srgbClr val="555555"/>
                </a:solidFill>
                <a:latin typeface="Courier New" pitchFamily="34" charset="0"/>
                <a:ea typeface="Courier New" pitchFamily="34" charset="-122"/>
                <a:cs typeface="Courier New" pitchFamily="34" charset="-120"/>
              </a:rPr>
              <a:t>fondamentale</a:t>
            </a:r>
            <a:r>
              <a:rPr lang="en-US" sz="1300" dirty="0">
                <a:solidFill>
                  <a:srgbClr val="555555"/>
                </a:solidFill>
                <a:latin typeface="Courier New" pitchFamily="34" charset="0"/>
                <a:ea typeface="Courier New" pitchFamily="34" charset="-122"/>
                <a:cs typeface="Courier New" pitchFamily="34" charset="-120"/>
              </a:rPr>
              <a:t> per completare la transizione PQC.</a:t>
            </a:r>
            <a:endParaRPr lang="en-US" sz="1300" dirty="0"/>
          </a:p>
        </p:txBody>
      </p:sp>
      <p:sp>
        <p:nvSpPr>
          <p:cNvPr id="13" name="Shape 11"/>
          <p:cNvSpPr/>
          <p:nvPr/>
        </p:nvSpPr>
        <p:spPr>
          <a:xfrm>
            <a:off x="365760" y="3566160"/>
            <a:ext cx="4114800" cy="1280160"/>
          </a:xfrm>
          <a:prstGeom prst="rect">
            <a:avLst/>
          </a:prstGeom>
          <a:solidFill>
            <a:srgbClr val="EEEEEE"/>
          </a:solidFill>
          <a:ln w="6350">
            <a:solidFill>
              <a:srgbClr val="AAAAAA"/>
            </a:solidFill>
            <a:prstDash val="solid"/>
          </a:ln>
        </p:spPr>
        <p:txBody>
          <a:bodyPr/>
          <a:lstStyle/>
          <a:p>
            <a:endParaRPr lang="it-IT" sz="1300"/>
          </a:p>
        </p:txBody>
      </p:sp>
      <p:sp>
        <p:nvSpPr>
          <p:cNvPr id="14" name="Text 12"/>
          <p:cNvSpPr/>
          <p:nvPr/>
        </p:nvSpPr>
        <p:spPr>
          <a:xfrm>
            <a:off x="457200" y="3611880"/>
            <a:ext cx="3931920" cy="274320"/>
          </a:xfrm>
          <a:prstGeom prst="rect">
            <a:avLst/>
          </a:prstGeom>
          <a:noFill/>
          <a:ln/>
        </p:spPr>
        <p:txBody>
          <a:bodyPr wrap="square" lIns="0" tIns="0" rIns="0" bIns="0" rtlCol="0" anchor="t"/>
          <a:lstStyle/>
          <a:p>
            <a:pPr marL="0" indent="0">
              <a:buNone/>
            </a:pPr>
            <a:r>
              <a:rPr lang="en-US" sz="1300" b="1" dirty="0">
                <a:solidFill>
                  <a:srgbClr val="000000"/>
                </a:solidFill>
                <a:latin typeface="Courier New" pitchFamily="34" charset="0"/>
                <a:ea typeface="Courier New" pitchFamily="34" charset="-122"/>
                <a:cs typeface="Courier New" pitchFamily="34" charset="-120"/>
              </a:rPr>
              <a:t>PRIMITIVE CONDIVISE</a:t>
            </a:r>
            <a:endParaRPr lang="en-US" sz="1300" dirty="0"/>
          </a:p>
        </p:txBody>
      </p:sp>
      <p:sp>
        <p:nvSpPr>
          <p:cNvPr id="15" name="Text 13"/>
          <p:cNvSpPr/>
          <p:nvPr/>
        </p:nvSpPr>
        <p:spPr>
          <a:xfrm>
            <a:off x="457200" y="3886200"/>
            <a:ext cx="3931920" cy="941832"/>
          </a:xfrm>
          <a:prstGeom prst="rect">
            <a:avLst/>
          </a:prstGeom>
          <a:noFill/>
          <a:ln/>
        </p:spPr>
        <p:txBody>
          <a:bodyPr wrap="square" lIns="0" tIns="0" rIns="0" bIns="0" rtlCol="0" anchor="t"/>
          <a:lstStyle/>
          <a:p>
            <a:pPr marL="0" indent="0">
              <a:buNone/>
            </a:pPr>
            <a:r>
              <a:rPr lang="en-US" sz="1300" dirty="0">
                <a:solidFill>
                  <a:srgbClr val="555555"/>
                </a:solidFill>
                <a:latin typeface="Courier New" pitchFamily="34" charset="0"/>
                <a:ea typeface="Courier New" pitchFamily="34" charset="-122"/>
                <a:cs typeface="Courier New" pitchFamily="34" charset="-120"/>
              </a:rPr>
              <a:t>Gli algoritmi crittografici devono considerare la limitazione delle risorse, condividendo primitive comuni per ottimizzare l'utilizzo hardware.</a:t>
            </a:r>
            <a:endParaRPr lang="en-US" sz="1300" dirty="0"/>
          </a:p>
        </p:txBody>
      </p:sp>
      <p:sp>
        <p:nvSpPr>
          <p:cNvPr id="16" name="Shape 14"/>
          <p:cNvSpPr/>
          <p:nvPr/>
        </p:nvSpPr>
        <p:spPr>
          <a:xfrm>
            <a:off x="4663440" y="3566160"/>
            <a:ext cx="4114800" cy="1280160"/>
          </a:xfrm>
          <a:prstGeom prst="rect">
            <a:avLst/>
          </a:prstGeom>
          <a:solidFill>
            <a:srgbClr val="EEEEEE"/>
          </a:solidFill>
          <a:ln w="6350">
            <a:solidFill>
              <a:srgbClr val="AAAAAA"/>
            </a:solidFill>
            <a:prstDash val="solid"/>
          </a:ln>
        </p:spPr>
        <p:txBody>
          <a:bodyPr/>
          <a:lstStyle/>
          <a:p>
            <a:endParaRPr lang="it-IT"/>
          </a:p>
        </p:txBody>
      </p:sp>
      <p:sp>
        <p:nvSpPr>
          <p:cNvPr id="17" name="Text 15"/>
          <p:cNvSpPr/>
          <p:nvPr/>
        </p:nvSpPr>
        <p:spPr>
          <a:xfrm>
            <a:off x="4754880" y="3611880"/>
            <a:ext cx="3931920" cy="274320"/>
          </a:xfrm>
          <a:prstGeom prst="rect">
            <a:avLst/>
          </a:prstGeom>
          <a:noFill/>
          <a:ln/>
        </p:spPr>
        <p:txBody>
          <a:bodyPr wrap="square" lIns="0" tIns="0" rIns="0" bIns="0" rtlCol="0" anchor="t"/>
          <a:lstStyle/>
          <a:p>
            <a:pPr marL="0" indent="0">
              <a:buNone/>
            </a:pPr>
            <a:r>
              <a:rPr lang="en-US" sz="1300" b="1" dirty="0">
                <a:solidFill>
                  <a:srgbClr val="000000"/>
                </a:solidFill>
                <a:latin typeface="Courier New" pitchFamily="34" charset="0"/>
                <a:ea typeface="Courier New" pitchFamily="34" charset="-122"/>
                <a:cs typeface="Courier New" pitchFamily="34" charset="-120"/>
              </a:rPr>
              <a:t>SISTEMI EMBEDDED &amp; PQC</a:t>
            </a:r>
            <a:endParaRPr lang="en-US" sz="1300" dirty="0"/>
          </a:p>
        </p:txBody>
      </p:sp>
      <p:sp>
        <p:nvSpPr>
          <p:cNvPr id="18" name="Text 16"/>
          <p:cNvSpPr/>
          <p:nvPr/>
        </p:nvSpPr>
        <p:spPr>
          <a:xfrm>
            <a:off x="4754880" y="3886200"/>
            <a:ext cx="3931920" cy="941832"/>
          </a:xfrm>
          <a:prstGeom prst="rect">
            <a:avLst/>
          </a:prstGeom>
          <a:noFill/>
          <a:ln/>
        </p:spPr>
        <p:txBody>
          <a:bodyPr wrap="square" lIns="0" tIns="0" rIns="0" bIns="0" rtlCol="0" anchor="t"/>
          <a:lstStyle/>
          <a:p>
            <a:pPr marL="0" indent="0">
              <a:buNone/>
            </a:pPr>
            <a:r>
              <a:rPr lang="en-US" sz="1300" dirty="0">
                <a:solidFill>
                  <a:srgbClr val="555555"/>
                </a:solidFill>
                <a:latin typeface="Courier New" pitchFamily="34" charset="0"/>
                <a:ea typeface="Courier New" pitchFamily="34" charset="-122"/>
                <a:cs typeface="Courier New" pitchFamily="34" charset="-120"/>
              </a:rPr>
              <a:t>La crypto-agility si applica maggiormente agli algoritmi PQC — con chiavi e firme più grandi — e ai sistemi embedded con risorse limitate.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57200" y="822960"/>
            <a:ext cx="8229600" cy="27432"/>
          </a:xfrm>
          <a:prstGeom prst="rect">
            <a:avLst/>
          </a:prstGeom>
          <a:solidFill>
            <a:srgbClr val="FFFFFF"/>
          </a:solidFill>
          <a:ln w="12700">
            <a:solidFill>
              <a:srgbClr val="FFFFFF"/>
            </a:solidFill>
            <a:prstDash val="solid"/>
          </a:ln>
        </p:spPr>
        <p:txBody>
          <a:bodyPr/>
          <a:lstStyle/>
          <a:p>
            <a:endParaRPr lang="it-IT"/>
          </a:p>
        </p:txBody>
      </p:sp>
      <p:sp>
        <p:nvSpPr>
          <p:cNvPr id="3" name="Text 1"/>
          <p:cNvSpPr/>
          <p:nvPr/>
        </p:nvSpPr>
        <p:spPr>
          <a:xfrm>
            <a:off x="457200" y="914400"/>
            <a:ext cx="8229600" cy="731520"/>
          </a:xfrm>
          <a:prstGeom prst="rect">
            <a:avLst/>
          </a:prstGeom>
          <a:noFill/>
          <a:ln/>
        </p:spPr>
        <p:txBody>
          <a:bodyPr wrap="square" rtlCol="0" anchor="ctr"/>
          <a:lstStyle/>
          <a:p>
            <a:pPr marL="0" indent="0" algn="ctr">
              <a:buNone/>
            </a:pPr>
            <a:r>
              <a:rPr lang="en-US" sz="3600" b="1" kern="0" spc="600" dirty="0">
                <a:solidFill>
                  <a:srgbClr val="FFFFFF"/>
                </a:solidFill>
                <a:latin typeface="Courier New" pitchFamily="34" charset="0"/>
                <a:ea typeface="Courier New" pitchFamily="34" charset="-122"/>
                <a:cs typeface="Courier New" pitchFamily="34" charset="-120"/>
              </a:rPr>
              <a:t>CONCLUSIONI</a:t>
            </a:r>
            <a:endParaRPr lang="en-US" sz="3600" dirty="0"/>
          </a:p>
        </p:txBody>
      </p:sp>
      <p:sp>
        <p:nvSpPr>
          <p:cNvPr id="4" name="Shape 2"/>
          <p:cNvSpPr/>
          <p:nvPr/>
        </p:nvSpPr>
        <p:spPr>
          <a:xfrm>
            <a:off x="457200" y="1737360"/>
            <a:ext cx="8229600" cy="27432"/>
          </a:xfrm>
          <a:prstGeom prst="rect">
            <a:avLst/>
          </a:prstGeom>
          <a:solidFill>
            <a:srgbClr val="FFFFFF"/>
          </a:solidFill>
          <a:ln w="12700">
            <a:solidFill>
              <a:srgbClr val="FFFFFF"/>
            </a:solidFill>
            <a:prstDash val="solid"/>
          </a:ln>
        </p:spPr>
        <p:txBody>
          <a:bodyPr/>
          <a:lstStyle/>
          <a:p>
            <a:endParaRPr lang="it-IT"/>
          </a:p>
        </p:txBody>
      </p:sp>
      <p:sp>
        <p:nvSpPr>
          <p:cNvPr id="5" name="Text 3"/>
          <p:cNvSpPr/>
          <p:nvPr/>
        </p:nvSpPr>
        <p:spPr>
          <a:xfrm>
            <a:off x="457200" y="1874520"/>
            <a:ext cx="8229600" cy="3017520"/>
          </a:xfrm>
          <a:prstGeom prst="rect">
            <a:avLst/>
          </a:prstGeom>
          <a:noFill/>
          <a:ln/>
        </p:spPr>
        <p:txBody>
          <a:bodyPr wrap="square" rtlCol="0" anchor="t"/>
          <a:lstStyle/>
          <a:p>
            <a:pPr marL="0" indent="0">
              <a:spcAft>
                <a:spcPts val="1000"/>
              </a:spcAft>
              <a:buNone/>
            </a:pPr>
            <a:r>
              <a:rPr lang="en-US" sz="1350" dirty="0">
                <a:solidFill>
                  <a:srgbClr val="AAAAAA"/>
                </a:solidFill>
                <a:latin typeface="Courier New" pitchFamily="34" charset="0"/>
                <a:ea typeface="Courier New" pitchFamily="34" charset="-122"/>
                <a:cs typeface="Courier New" pitchFamily="34" charset="-120"/>
              </a:rPr>
              <a:t>01.  La crypto-agility è una proprietà progettuale da pianificare prima che un algoritmo venga compromesso.</a:t>
            </a:r>
            <a:endParaRPr lang="en-US" sz="1350" dirty="0"/>
          </a:p>
          <a:p>
            <a:pPr marL="0" indent="0">
              <a:spcAft>
                <a:spcPts val="1000"/>
              </a:spcAft>
              <a:buNone/>
            </a:pPr>
            <a:r>
              <a:rPr lang="en-US" sz="1350" dirty="0">
                <a:solidFill>
                  <a:srgbClr val="AAAAAA"/>
                </a:solidFill>
                <a:latin typeface="Courier New" pitchFamily="34" charset="0"/>
                <a:ea typeface="Courier New" pitchFamily="34" charset="-122"/>
                <a:cs typeface="Courier New" pitchFamily="34" charset="-120"/>
              </a:rPr>
              <a:t>02.  Il livello di astrazione (Crypto-API) è il meccanismo chiave per il disaccoppiamento applicazione–crittografia.</a:t>
            </a:r>
            <a:endParaRPr lang="en-US" sz="1350" dirty="0"/>
          </a:p>
          <a:p>
            <a:pPr marL="0" indent="0">
              <a:spcAft>
                <a:spcPts val="1000"/>
              </a:spcAft>
              <a:buNone/>
            </a:pPr>
            <a:r>
              <a:rPr lang="en-US" sz="1350" dirty="0">
                <a:solidFill>
                  <a:srgbClr val="AAAAAA"/>
                </a:solidFill>
                <a:latin typeface="Courier New" pitchFamily="34" charset="0"/>
                <a:ea typeface="Courier New" pitchFamily="34" charset="-122"/>
                <a:cs typeface="Courier New" pitchFamily="34" charset="-120"/>
              </a:rPr>
              <a:t>03.  La transizione PQC è il principale driver attuale: richiede agilità a tutti i livelli del sistema.</a:t>
            </a:r>
            <a:endParaRPr lang="en-US" sz="1350" dirty="0"/>
          </a:p>
          <a:p>
            <a:pPr marL="0" indent="0">
              <a:spcAft>
                <a:spcPts val="1000"/>
              </a:spcAft>
              <a:buNone/>
            </a:pPr>
            <a:r>
              <a:rPr lang="en-US" sz="1350" dirty="0">
                <a:solidFill>
                  <a:srgbClr val="AAAAAA"/>
                </a:solidFill>
                <a:latin typeface="Courier New" pitchFamily="34" charset="0"/>
                <a:ea typeface="Courier New" pitchFamily="34" charset="-122"/>
                <a:cs typeface="Courier New" pitchFamily="34" charset="-120"/>
              </a:rPr>
              <a:t>04.  I vincoli hardware rappresentano la sfida più critica, in particolare per sistemi embedded e IoT.</a:t>
            </a:r>
            <a:endParaRPr lang="en-US" sz="1350" dirty="0"/>
          </a:p>
          <a:p>
            <a:pPr marL="0" indent="0">
              <a:spcAft>
                <a:spcPts val="1000"/>
              </a:spcAft>
              <a:buNone/>
            </a:pPr>
            <a:r>
              <a:rPr lang="en-US" sz="1350" dirty="0">
                <a:solidFill>
                  <a:srgbClr val="AAAAAA"/>
                </a:solidFill>
                <a:latin typeface="Courier New" pitchFamily="34" charset="0"/>
                <a:ea typeface="Courier New" pitchFamily="34" charset="-122"/>
                <a:cs typeface="Courier New" pitchFamily="34" charset="-120"/>
              </a:rPr>
              <a:t>05.  La ricerca su riuso degli acceleratori e primitive condivise è essenziale per l'abilitazione hardware.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1233</Words>
  <Application>Microsoft Office PowerPoint</Application>
  <PresentationFormat>Presentazione su schermo (16:9)</PresentationFormat>
  <Paragraphs>86</Paragraphs>
  <Slides>9</Slides>
  <Notes>9</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9</vt:i4>
      </vt:variant>
    </vt:vector>
  </HeadingPairs>
  <TitlesOfParts>
    <vt:vector size="12" baseType="lpstr">
      <vt:lpstr>Arial</vt:lpstr>
      <vt:lpstr>Courier New</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Cryptoagility</dc:title>
  <dc:subject>PptxGenJS Presentation</dc:subject>
  <dc:creator>Alessandro Monni</dc:creator>
  <cp:lastModifiedBy>Alessandro Monni</cp:lastModifiedBy>
  <cp:revision>2</cp:revision>
  <dcterms:created xsi:type="dcterms:W3CDTF">2026-05-20T02:54:32Z</dcterms:created>
  <dcterms:modified xsi:type="dcterms:W3CDTF">2026-05-20T03:22:40Z</dcterms:modified>
</cp:coreProperties>
</file>