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579" autoAdjust="0"/>
  </p:normalViewPr>
  <p:slideViewPr>
    <p:cSldViewPr snapToGrid="0" snapToObjects="1">
      <p:cViewPr varScale="1">
        <p:scale>
          <a:sx n="84" d="100"/>
          <a:sy n="84" d="100"/>
        </p:scale>
        <p:origin x="14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ourier New"/>
              </a:defRPr>
            </a:pPr>
            <a:r>
              <a:rPr lang="it-IT" sz="1100" b="0" i="0" u="none" strike="noStrike">
                <a:solidFill>
                  <a:srgbClr val="1A1A1A"/>
                </a:solidFill>
                <a:latin typeface="Courier New"/>
              </a:rPr>
              <a:t>Differenza % (hybrid vs sha3)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tempo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 B</c:v>
                </c:pt>
                <c:pt idx="1">
                  <c:v>64 B</c:v>
                </c:pt>
                <c:pt idx="2">
                  <c:v>256 B</c:v>
                </c:pt>
                <c:pt idx="3">
                  <c:v>1024 B</c:v>
                </c:pt>
                <c:pt idx="4">
                  <c:v>4096 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-3.96</c:v>
                </c:pt>
                <c:pt idx="1">
                  <c:v>-0.19</c:v>
                </c:pt>
                <c:pt idx="2">
                  <c:v>-0.04</c:v>
                </c:pt>
                <c:pt idx="3">
                  <c:v>2.62</c:v>
                </c:pt>
                <c:pt idx="4">
                  <c:v>-2.95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86-4DE8-99F5-1239679E39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 cicli</c:v>
                </c:pt>
              </c:strCache>
            </c:strRef>
          </c:tx>
          <c:spPr>
            <a:solidFill>
              <a:srgbClr val="9A9A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 B</c:v>
                </c:pt>
                <c:pt idx="1">
                  <c:v>64 B</c:v>
                </c:pt>
                <c:pt idx="2">
                  <c:v>256 B</c:v>
                </c:pt>
                <c:pt idx="3">
                  <c:v>1024 B</c:v>
                </c:pt>
                <c:pt idx="4">
                  <c:v>4096 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-3.32</c:v>
                </c:pt>
                <c:pt idx="1">
                  <c:v>0.44</c:v>
                </c:pt>
                <c:pt idx="2">
                  <c:v>0.57999999999999996</c:v>
                </c:pt>
                <c:pt idx="3">
                  <c:v>3.27</c:v>
                </c:pt>
                <c:pt idx="4">
                  <c:v>-2.48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86-4DE8-99F5-1239679E39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Courier New"/>
                  </a:defRPr>
                </a:pPr>
                <a:r>
                  <a:rPr lang="it-IT" sz="900" b="0" i="0" u="none" strike="noStrike">
                    <a:solidFill>
                      <a:srgbClr val="000000"/>
                    </a:solidFill>
                    <a:latin typeface="Courier New"/>
                  </a:rPr>
                  <a:t>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ourier New"/>
              </a:defRPr>
            </a:pPr>
            <a:r>
              <a:rPr lang="it-IT" sz="1100" b="0" i="0" u="none" strike="noStrike">
                <a:solidFill>
                  <a:srgbClr val="1A1A1A"/>
                </a:solidFill>
                <a:latin typeface="Courier New"/>
              </a:rPr>
              <a:t>Differenza % (hybrid vs sha3)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tempo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 B</c:v>
                </c:pt>
                <c:pt idx="1">
                  <c:v>64 B</c:v>
                </c:pt>
                <c:pt idx="2">
                  <c:v>256 B</c:v>
                </c:pt>
                <c:pt idx="3">
                  <c:v>1024 B</c:v>
                </c:pt>
                <c:pt idx="4">
                  <c:v>4096 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1.36</c:v>
                </c:pt>
                <c:pt idx="1">
                  <c:v>7.52</c:v>
                </c:pt>
                <c:pt idx="2">
                  <c:v>1.94</c:v>
                </c:pt>
                <c:pt idx="3">
                  <c:v>7.19</c:v>
                </c:pt>
                <c:pt idx="4">
                  <c:v>1.1200000000000001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12-408A-A4BC-57E708D581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 cicli</c:v>
                </c:pt>
              </c:strCache>
            </c:strRef>
          </c:tx>
          <c:spPr>
            <a:solidFill>
              <a:srgbClr val="9A9A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 B</c:v>
                </c:pt>
                <c:pt idx="1">
                  <c:v>64 B</c:v>
                </c:pt>
                <c:pt idx="2">
                  <c:v>256 B</c:v>
                </c:pt>
                <c:pt idx="3">
                  <c:v>1024 B</c:v>
                </c:pt>
                <c:pt idx="4">
                  <c:v>4096 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-0.21</c:v>
                </c:pt>
                <c:pt idx="1">
                  <c:v>5.78</c:v>
                </c:pt>
                <c:pt idx="2">
                  <c:v>0.56000000000000005</c:v>
                </c:pt>
                <c:pt idx="3">
                  <c:v>0.75</c:v>
                </c:pt>
                <c:pt idx="4">
                  <c:v>1.52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12-408A-A4BC-57E708D581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Courier New"/>
                  </a:defRPr>
                </a:pPr>
                <a:r>
                  <a:rPr lang="it-IT" sz="900" b="0" i="0" u="none" strike="noStrike">
                    <a:solidFill>
                      <a:srgbClr val="000000"/>
                    </a:solidFill>
                    <a:latin typeface="Courier New"/>
                  </a:rPr>
                  <a:t>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ourier New"/>
              </a:defRPr>
            </a:pPr>
            <a:r>
              <a:rPr lang="it-IT" sz="1100" b="0" i="0" u="none" strike="noStrike">
                <a:solidFill>
                  <a:srgbClr val="1A1A1A"/>
                </a:solidFill>
                <a:latin typeface="Courier New"/>
              </a:rPr>
              <a:t>Differenza % (hybrid vs ascon)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tempo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 B</c:v>
                </c:pt>
                <c:pt idx="1">
                  <c:v>64 B</c:v>
                </c:pt>
                <c:pt idx="2">
                  <c:v>256 B</c:v>
                </c:pt>
                <c:pt idx="3">
                  <c:v>1024 B</c:v>
                </c:pt>
                <c:pt idx="4">
                  <c:v>4096 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-2.66</c:v>
                </c:pt>
                <c:pt idx="1">
                  <c:v>3.12</c:v>
                </c:pt>
                <c:pt idx="2">
                  <c:v>0.05</c:v>
                </c:pt>
                <c:pt idx="3">
                  <c:v>-0.36</c:v>
                </c:pt>
                <c:pt idx="4">
                  <c:v>-0.65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7-44F1-A3DE-8CA10F2819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 cicli</c:v>
                </c:pt>
              </c:strCache>
            </c:strRef>
          </c:tx>
          <c:spPr>
            <a:solidFill>
              <a:srgbClr val="9A9A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 B</c:v>
                </c:pt>
                <c:pt idx="1">
                  <c:v>64 B</c:v>
                </c:pt>
                <c:pt idx="2">
                  <c:v>256 B</c:v>
                </c:pt>
                <c:pt idx="3">
                  <c:v>1024 B</c:v>
                </c:pt>
                <c:pt idx="4">
                  <c:v>4096 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-1.61</c:v>
                </c:pt>
                <c:pt idx="1">
                  <c:v>3.34</c:v>
                </c:pt>
                <c:pt idx="2">
                  <c:v>-0.44</c:v>
                </c:pt>
                <c:pt idx="3">
                  <c:v>0.25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07-44F1-A3DE-8CA10F2819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Courier New"/>
                  </a:defRPr>
                </a:pPr>
                <a:r>
                  <a:rPr lang="it-IT" sz="900" b="0" i="0" u="none" strike="noStrike">
                    <a:solidFill>
                      <a:srgbClr val="000000"/>
                    </a:solidFill>
                    <a:latin typeface="Courier New"/>
                  </a:rPr>
                  <a:t>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ourier New"/>
              </a:defRPr>
            </a:pPr>
            <a:r>
              <a:rPr lang="en-US" sz="1100" b="0" i="0" u="none" strike="noStrike">
                <a:solidFill>
                  <a:srgbClr val="1A1A1A"/>
                </a:solidFill>
                <a:latin typeface="Courier New"/>
              </a:rPr>
              <a:t>hash/s a 256 B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SHA3-256</c:v>
                </c:pt>
                <c:pt idx="1">
                  <c:v>SHA3-512</c:v>
                </c:pt>
                <c:pt idx="2">
                  <c:v>Ascon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160680</c:v>
                </c:pt>
                <c:pt idx="1">
                  <c:v>82138</c:v>
                </c:pt>
                <c:pt idx="2">
                  <c:v>66343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B-46C0-AB06-B64AFB3E94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dedicata</c:v>
                </c:pt>
              </c:strCache>
            </c:strRef>
          </c:tx>
          <c:spPr>
            <a:solidFill>
              <a:srgbClr val="9A9A9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SHA3-256</c:v>
                </c:pt>
                <c:pt idx="1">
                  <c:v>SHA3-512</c:v>
                </c:pt>
                <c:pt idx="2">
                  <c:v>Ascon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160619</c:v>
                </c:pt>
                <c:pt idx="1">
                  <c:v>83733</c:v>
                </c:pt>
                <c:pt idx="2">
                  <c:v>66373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B-46C0-AB06-B64AFB3E9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ourier New"/>
              </a:defRPr>
            </a:pPr>
            <a:r>
              <a:rPr lang="it-IT" sz="1100" b="0" i="0" u="none" strike="noStrike">
                <a:solidFill>
                  <a:srgbClr val="1A1A1A"/>
                </a:solidFill>
                <a:latin typeface="Courier New"/>
              </a:rPr>
              <a:t>Media delle differenze % sulle 5 dimensioni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tempo medio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SHA3-256</c:v>
                </c:pt>
                <c:pt idx="1">
                  <c:v>SHA3-512</c:v>
                </c:pt>
                <c:pt idx="2">
                  <c:v>Ascon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-0.9</c:v>
                </c:pt>
                <c:pt idx="1">
                  <c:v>3.83</c:v>
                </c:pt>
                <c:pt idx="2">
                  <c:v>-0.1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31-430C-BC99-AE3C5BF0EA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 cicli medio</c:v>
                </c:pt>
              </c:strCache>
            </c:strRef>
          </c:tx>
          <c:spPr>
            <a:solidFill>
              <a:srgbClr val="9A9A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Courier New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SHA3-256</c:v>
                </c:pt>
                <c:pt idx="1">
                  <c:v>SHA3-512</c:v>
                </c:pt>
                <c:pt idx="2">
                  <c:v>Ascon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-0.3</c:v>
                </c:pt>
                <c:pt idx="1">
                  <c:v>1.68</c:v>
                </c:pt>
                <c:pt idx="2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31-430C-BC99-AE3C5BF0EA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47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1417320"/>
            <a:ext cx="164592" cy="164592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164592" cy="164592"/>
          </a:xfrm>
          <a:prstGeom prst="rect">
            <a:avLst/>
          </a:prstGeom>
          <a:solidFill>
            <a:srgbClr val="9A9A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164592" cy="164592"/>
          </a:xfrm>
          <a:prstGeom prst="rect">
            <a:avLst/>
          </a:prstGeom>
          <a:solidFill>
            <a:srgbClr val="B23A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Analisi statistica della latenza software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Implementazione ibrida vs implementazioni dedicate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SHA3-256 · SHA3-512 · Ascon-Hash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14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7C35A66-44FD-D33F-9190-EBB896ED3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654" y="316991"/>
            <a:ext cx="2216266" cy="575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Obiettivo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tre primitive condividono la stessa permutazione di base.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L'implementazione IBRIDA le realizza in un'unica codebase, scegliendo l'algoritmo a runtime.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implementazioni DEDICATE realizzano un solo algoritmo ciascuna.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Domanda: unificare introduce overhead in software?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Metrica principale: la latenza di una singola operazione di hash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2356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IBRIDA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23560" y="1417320"/>
            <a:ext cx="3017520" cy="914400"/>
          </a:xfrm>
          <a:prstGeom prst="rect">
            <a:avLst/>
          </a:prstGeom>
          <a:solidFill>
            <a:srgbClr val="EFEFEC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62356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codebase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SHA3-256 / SHA3-512 / Ascon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9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DEDICATE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2880360"/>
            <a:ext cx="9326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A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623560" y="288036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SHA3-256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65976" y="2880360"/>
            <a:ext cx="9326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A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665976" y="288036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SHA3-512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08392" y="2880360"/>
            <a:ext cx="932688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9A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708392" y="288036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Metodologia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100.000 misurazioni per caso + 1.000 di warmup (scartate)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Compilazione: gcc -O2 -march=native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Doppia misura: tempo (clock_gettime, ns) e cicli di CPU (rdtsc)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sintetici deterministici: 16, 64, 256, 1024, 4096 byte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Correttezza verificata sui vettori KAT prima delle misure</a:t>
            </a:r>
            <a:endParaRPr lang="en-US" sz="1350" dirty="0"/>
          </a:p>
          <a:p>
            <a:pPr marL="342900" indent="-342900" algn="l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 confronti: per ogni algoritmo, ibrida vs dedicata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2743200" cy="749808"/>
          </a:xfrm>
          <a:prstGeom prst="rect">
            <a:avLst/>
          </a:prstGeom>
          <a:solidFill>
            <a:srgbClr val="EFEFEC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080760" y="11521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0" y="115214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iterazioni / caso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2743200" cy="749808"/>
          </a:xfrm>
          <a:prstGeom prst="rect">
            <a:avLst/>
          </a:prstGeom>
          <a:solidFill>
            <a:srgbClr val="EFEFEC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080760" y="20665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0" y="206654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dimensioni di input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743200" cy="749808"/>
          </a:xfrm>
          <a:prstGeom prst="rect">
            <a:avLst/>
          </a:prstGeom>
          <a:solidFill>
            <a:srgbClr val="EFEFEC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080760" y="29809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298094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metriche: ns + cicli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3840480"/>
            <a:ext cx="2743200" cy="749808"/>
          </a:xfrm>
          <a:prstGeom prst="rect">
            <a:avLst/>
          </a:prstGeom>
          <a:solidFill>
            <a:srgbClr val="EFEFEC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080760" y="389534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0" y="389534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confronti hybrid vs dedicata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metriche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2296" cy="14173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58952" y="1243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Latenza (ns)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62763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di una singola esecuzione di hash: quanto e' veloce l'operazione.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82296" cy="14173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56632" y="12435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Cicli di CPU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56632" y="162763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Lavoro speso, contato con rdtsc; indipendente dalla frequenza di clock.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82296" cy="14173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58952" y="28895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" y="327355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al secondo e hash al secondo: quanti dati / quante operazioni al secondo.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82296" cy="14173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56632" y="28895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Statistiche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56632" y="3273552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media, mediana, deviazione standard, minimo e massimo dei campioni.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Gestione degli outlier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latenza ha un pavimento (minimo fisico) ma non un soffitto: interrupt e context switch aggiungono solo tempo, mai toglierne.</a:t>
            </a:r>
            <a:endParaRPr lang="en-US" sz="1250" dirty="0"/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distribuzione e' quindi asimmetrica, con una coda a destra; gli outlier sono quasi sempre alti.</a:t>
            </a:r>
            <a:endParaRPr lang="en-US" sz="1250" dirty="0"/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Rimozione con la regola IQR (Tukey), solo recinto superiore: si scarta cio' che supera Q3 + 1.5*(Q3-Q1).</a:t>
            </a:r>
            <a:endParaRPr lang="en-US" sz="1250" dirty="0"/>
          </a:p>
          <a:p>
            <a:pPr marL="342900" indent="-342900" algn="l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 minimo non viene toccato; media e deviazione standard tornano rappresentative.</a:t>
            </a:r>
            <a:endParaRPr lang="en-US" sz="1250" dirty="0"/>
          </a:p>
        </p:txBody>
      </p:sp>
      <p:pic>
        <p:nvPicPr>
          <p:cNvPr id="5" name="Image 0" descr="/home/claude/pptx_build/iqr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697480"/>
            <a:ext cx="6675120" cy="1965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Risultati — SHA3-256  ·  hybrid vs sha3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34440"/>
          <a:ext cx="3246120" cy="18592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 (ns)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sha3 (ns)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Δ tempo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3026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-3,96%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3083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3089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-0,19%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6224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6226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-0,04%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1024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25.332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24.685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+2,62%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4096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95.515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98.421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-2,95%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4068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media sul tempo: differenza media trascurabile (-0,90%).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Risultati — SHA3-512  ·  hybrid vs sha3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34440"/>
          <a:ext cx="3246120" cy="18592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 (ns)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sha3 (ns)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Δ tempo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3056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+1,36%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3297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3066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+7,52%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12.175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11.943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+1,94%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1024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48.097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44.872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+7,19%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4096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181.952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179.934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+1,12%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4068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media sul tempo: in media hybrid piu' lenta (+3,83%).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5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Risultati — Ascon  ·  hybrid vs ascon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34440"/>
          <a:ext cx="3246120" cy="18592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 (ns)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ascon (ns)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Δ tempo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2836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2913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-2,66%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5487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+3,12%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15.073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15.066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B23A1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+0,05%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1024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54.608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54.804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-0,36%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4096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216.250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217.672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-0,65%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4068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media sul tempo: differenza media trascurabile (-0,10%).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 (input da 256 byte)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34440"/>
          <a:ext cx="3977640" cy="19202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algoritmo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impl.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byte/s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SHA3-256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41.134.216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160.680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9A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41.118.406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160.619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SHA3-512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21.027.362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82.138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9A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21.435.660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83.733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6E5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16.983.755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66.343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A9A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16.991.454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66.373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709160" y="34290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 throughput scala con la dimensione dell'input; qui il caso a 256 B. Hybrid e dedicata restano allineate.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Confronto aggregato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128016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Differenze entro pochi punti percentuali.</a:t>
            </a:r>
            <a:endParaRPr lang="en-US" sz="115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SHA3-256 e Ascon: hybrid sostanzialmente identica (entro ±1%).</a:t>
            </a:r>
            <a:endParaRPr lang="en-US" sz="115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SHA3-512: unico caso con overhead apprezzabile (~+3,83% sul tempo).</a:t>
            </a:r>
            <a:endParaRPr lang="en-US" sz="1150" dirty="0"/>
          </a:p>
          <a:p>
            <a:pPr marL="342900" indent="-3429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Negativo = hybrid piu' veloce della dedicata.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L'implementazione ibrida e' sostanzialmente alla pari con quelle dedicate.</a:t>
            </a:r>
            <a:endParaRPr lang="en-US" sz="1400" dirty="0"/>
          </a:p>
          <a:p>
            <a:pPr marL="342900" indent="-342900" algn="l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SHA3-256 e Ascon: differenze trascurabili (entro ±1% in media), a volte l'ibrida e' piu' veloce.</a:t>
            </a:r>
            <a:endParaRPr lang="en-US" sz="1400" dirty="0"/>
          </a:p>
          <a:p>
            <a:pPr marL="342900" indent="-342900" algn="l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SHA3-512: unico caso con overhead misurabile (~+3,83% sul tempo, ~+1,68% sui cicli).</a:t>
            </a:r>
            <a:endParaRPr lang="en-US" sz="1400" dirty="0"/>
          </a:p>
          <a:p>
            <a:pPr marL="342900" indent="-342900" algn="l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e cicli di CPU concordano: il risultato e' robusto.</a:t>
            </a:r>
            <a:endParaRPr lang="en-US" sz="1400" dirty="0"/>
          </a:p>
          <a:p>
            <a:pPr marL="342900" indent="-342900" algn="l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 costo di astrazione dell'unificazione e', in software, trascurabile.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Alessandro Monni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775</Words>
  <Application>Microsoft Office PowerPoint</Application>
  <PresentationFormat>Presentazione su schermo (16:9)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statistica della latenza software</dc:title>
  <dc:subject>PptxGenJS Presentation</dc:subject>
  <dc:creator>Alessandro Monni</dc:creator>
  <cp:lastModifiedBy>Alessandro Monni</cp:lastModifiedBy>
  <cp:revision>2</cp:revision>
  <dcterms:created xsi:type="dcterms:W3CDTF">2026-05-21T09:17:37Z</dcterms:created>
  <dcterms:modified xsi:type="dcterms:W3CDTF">2026-05-21T09:31:52Z</dcterms:modified>
</cp:coreProperties>
</file>